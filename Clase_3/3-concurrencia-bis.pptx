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2185" y="16708"/>
            <a:ext cx="309562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0087C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97345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0087C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97345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0087C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97345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0087C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97345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97345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976" y="51787"/>
            <a:ext cx="312363" cy="134809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413562"/>
            <a:ext cx="4605644" cy="399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2185" y="16708"/>
            <a:ext cx="340360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0087C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947" y="1171357"/>
            <a:ext cx="3926204" cy="956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005" y="3250996"/>
            <a:ext cx="1566545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485375" y="3203359"/>
            <a:ext cx="1120775" cy="1765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87CC"/>
                </a:solidFill>
                <a:latin typeface="Verdana"/>
                <a:cs typeface="Verdana"/>
              </a:defRPr>
            </a:lvl1pPr>
          </a:lstStyle>
          <a:p>
            <a:pPr marL="97345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mailto:pdeymon@fi.uba.ar" TargetMode="External"/><Relationship Id="rId5" Type="http://schemas.openxmlformats.org/officeDocument/2006/relationships/hyperlink" Target="mailto:ukelman@fi.uba.ar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" Target="slide17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slide" Target="slide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s.wikipedia.org/wiki/Ley_de_Moore" TargetMode="External"/><Relationship Id="rId3" Type="http://schemas.openxmlformats.org/officeDocument/2006/relationships/hyperlink" Target="https://en.wikipedia.org/wiki/Dennard_scaling" TargetMode="External"/><Relationship Id="rId4" Type="http://schemas.openxmlformats.org/officeDocument/2006/relationships/slide" Target="slide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slide" Target="slide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slide" Target="slide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" Target="slide11.xml"/><Relationship Id="rId5" Type="http://schemas.openxmlformats.org/officeDocument/2006/relationships/slide" Target="slide15.xml"/><Relationship Id="rId6" Type="http://schemas.openxmlformats.org/officeDocument/2006/relationships/slide" Target="slide17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slide" Target="slide10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slide" Target="slide10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26.xml"/><Relationship Id="rId7" Type="http://schemas.openxmlformats.org/officeDocument/2006/relationships/slide" Target="slide28.xml"/><Relationship Id="rId8" Type="http://schemas.openxmlformats.org/officeDocument/2006/relationships/slide" Target="slide3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7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slide" Target="slide17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7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.rust-lang.org/book/" TargetMode="External"/><Relationship Id="rId3" Type="http://schemas.openxmlformats.org/officeDocument/2006/relationships/slide" Target="slide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15608"/>
            <a:ext cx="4605644" cy="13378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28" y="2516"/>
            <a:ext cx="1944073" cy="737182"/>
          </a:xfrm>
          <a:prstGeom prst="rect">
            <a:avLst/>
          </a:prstGeom>
        </p:spPr>
      </p:pic>
      <p:sp>
        <p:nvSpPr>
          <p:cNvPr id="4" name="object 4" descr="$PPTXTitle"/>
          <p:cNvSpPr txBox="1"/>
          <p:nvPr/>
        </p:nvSpPr>
        <p:spPr>
          <a:xfrm>
            <a:off x="1240421" y="685133"/>
            <a:ext cx="2127885" cy="50419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1400" spc="-35">
                <a:solidFill>
                  <a:srgbClr val="3333B2"/>
                </a:solidFill>
                <a:latin typeface="Arial MT"/>
                <a:cs typeface="Arial MT"/>
              </a:rPr>
              <a:t>Taller </a:t>
            </a:r>
            <a:r>
              <a:rPr dirty="0" sz="1400" spc="-90">
                <a:solidFill>
                  <a:srgbClr val="3333B2"/>
                </a:solidFill>
                <a:latin typeface="Arial MT"/>
                <a:cs typeface="Arial MT"/>
              </a:rPr>
              <a:t>de</a:t>
            </a:r>
            <a:r>
              <a:rPr dirty="0" sz="14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3333B2"/>
                </a:solidFill>
                <a:latin typeface="Arial MT"/>
                <a:cs typeface="Arial MT"/>
              </a:rPr>
              <a:t>Programación</a:t>
            </a:r>
            <a:r>
              <a:rPr dirty="0" sz="1400" spc="-2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3333B2"/>
                </a:solidFill>
                <a:latin typeface="Arial MT"/>
                <a:cs typeface="Arial MT"/>
              </a:rPr>
              <a:t>I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100" spc="-35">
                <a:solidFill>
                  <a:srgbClr val="3333B2"/>
                </a:solidFill>
                <a:latin typeface="Arial MT"/>
                <a:cs typeface="Arial MT"/>
              </a:rPr>
              <a:t>Introducción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</a:rPr>
              <a:t>a </a:t>
            </a:r>
            <a:r>
              <a:rPr dirty="0" sz="1100" spc="-55">
                <a:solidFill>
                  <a:srgbClr val="3333B2"/>
                </a:solidFill>
                <a:latin typeface="Arial MT"/>
                <a:cs typeface="Arial MT"/>
              </a:rPr>
              <a:t>Concurrencia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80">
                <a:solidFill>
                  <a:srgbClr val="3333B2"/>
                </a:solidFill>
                <a:latin typeface="Arial MT"/>
                <a:cs typeface="Arial MT"/>
              </a:rPr>
              <a:t>en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3333B2"/>
                </a:solidFill>
                <a:latin typeface="Arial MT"/>
                <a:cs typeface="Arial MT"/>
              </a:rPr>
              <a:t>Rust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607" y="1451380"/>
            <a:ext cx="2399665" cy="7905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065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Ing.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Pablo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A.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Deymonnaz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- </a:t>
            </a:r>
            <a:r>
              <a:rPr dirty="0" sz="1100" spc="-25">
                <a:latin typeface="Arial MT"/>
                <a:cs typeface="Arial MT"/>
              </a:rPr>
              <a:t>Uriel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Kelman </a:t>
            </a:r>
            <a:r>
              <a:rPr dirty="0" sz="1100" spc="-70">
                <a:latin typeface="Arial MT"/>
                <a:cs typeface="Arial MT"/>
                <a:hlinkClick r:id="rId4"/>
              </a:rPr>
              <a:t>pdeymon@fi.uba.ar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-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  <a:hlinkClick r:id="rId5"/>
              </a:rPr>
              <a:t>ukelman@fi.uba.ar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Arial MT"/>
              <a:cs typeface="Arial MT"/>
            </a:endParaRPr>
          </a:p>
          <a:p>
            <a:pPr algn="ctr" marL="560070" marR="552450" indent="35560">
              <a:lnSpc>
                <a:spcPts val="950"/>
              </a:lnSpc>
              <a:spcBef>
                <a:spcPts val="5"/>
              </a:spcBef>
            </a:pPr>
            <a:r>
              <a:rPr dirty="0" sz="800">
                <a:latin typeface="Arial MT"/>
                <a:cs typeface="Arial MT"/>
              </a:rPr>
              <a:t>Facultad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Ingeniería Universidad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Buenos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Aires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2185" y="16708"/>
            <a:ext cx="525145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00">
                <a:solidFill>
                  <a:srgbClr val="0087CC"/>
                </a:solidFill>
                <a:latin typeface="Arial MT"/>
                <a:cs typeface="Arial MT"/>
              </a:rPr>
              <a:t>Índice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0257" y="1055050"/>
            <a:ext cx="2270760" cy="10013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15265" algn="l"/>
              </a:tabLst>
            </a:pPr>
            <a:r>
              <a:rPr dirty="0" sz="1400" spc="-40">
                <a:solidFill>
                  <a:srgbClr val="3333B2"/>
                </a:solidFill>
                <a:latin typeface="Arial MT"/>
                <a:cs typeface="Arial MT"/>
                <a:hlinkClick r:id="rId2" action="ppaction://hlinksldjump"/>
              </a:rPr>
              <a:t>Introducción </a:t>
            </a:r>
            <a:r>
              <a:rPr dirty="0" sz="1400">
                <a:solidFill>
                  <a:srgbClr val="3333B2"/>
                </a:solidFill>
                <a:latin typeface="Arial MT"/>
                <a:cs typeface="Arial MT"/>
                <a:hlinkClick r:id="rId2" action="ppaction://hlinksldjump"/>
              </a:rPr>
              <a:t>a</a:t>
            </a:r>
            <a:r>
              <a:rPr dirty="0" sz="1400" spc="-35">
                <a:solidFill>
                  <a:srgbClr val="3333B2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1400" spc="-70">
                <a:solidFill>
                  <a:srgbClr val="3333B2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endParaRPr sz="14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15265" algn="l"/>
              </a:tabLst>
            </a:pPr>
            <a:r>
              <a:rPr dirty="0" sz="1400" spc="-10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Procesos</a:t>
            </a:r>
            <a:r>
              <a:rPr dirty="0" sz="1400" spc="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4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y</a:t>
            </a:r>
            <a:r>
              <a:rPr dirty="0" sz="1400" spc="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4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Threads</a:t>
            </a:r>
            <a:endParaRPr sz="14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15265" algn="l"/>
              </a:tabLst>
            </a:pPr>
            <a:r>
              <a:rPr dirty="0" sz="1400" spc="-70">
                <a:solidFill>
                  <a:srgbClr val="D6D6EF"/>
                </a:solidFill>
                <a:latin typeface="Arial MT"/>
                <a:cs typeface="Arial MT"/>
                <a:hlinkClick r:id="rId4" action="ppaction://hlinksldjump"/>
              </a:rPr>
              <a:t>Concurrencia</a:t>
            </a:r>
            <a:r>
              <a:rPr dirty="0" sz="1400" spc="-5">
                <a:solidFill>
                  <a:srgbClr val="D6D6E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1400" spc="-95">
                <a:solidFill>
                  <a:srgbClr val="D6D6EF"/>
                </a:solidFill>
                <a:latin typeface="Arial MT"/>
                <a:cs typeface="Arial MT"/>
                <a:hlinkClick r:id="rId4" action="ppaction://hlinksldjump"/>
              </a:rPr>
              <a:t>en</a:t>
            </a:r>
            <a:r>
              <a:rPr dirty="0" sz="1400" spc="-5">
                <a:solidFill>
                  <a:srgbClr val="D6D6E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1400" spc="-20">
                <a:solidFill>
                  <a:srgbClr val="D6D6EF"/>
                </a:solidFill>
                <a:latin typeface="Arial MT"/>
                <a:cs typeface="Arial MT"/>
                <a:hlinkClick r:id="rId4" action="ppaction://hlinksldjump"/>
              </a:rPr>
              <a:t>Rust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04"/>
              <a:t>¿Qué</a:t>
            </a:r>
            <a:r>
              <a:rPr dirty="0" spc="65"/>
              <a:t> </a:t>
            </a:r>
            <a:r>
              <a:rPr dirty="0" spc="-240"/>
              <a:t>es</a:t>
            </a:r>
            <a:r>
              <a:rPr dirty="0" spc="65"/>
              <a:t> </a:t>
            </a:r>
            <a:r>
              <a:rPr dirty="0"/>
              <a:t>la</a:t>
            </a:r>
            <a:r>
              <a:rPr dirty="0" spc="-65"/>
              <a:t> </a:t>
            </a:r>
            <a:r>
              <a:rPr dirty="0" spc="-114"/>
              <a:t>concurrencia?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691437"/>
            <a:ext cx="3936365" cy="9563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14960" marR="50165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 b="1">
                <a:latin typeface="Arial"/>
                <a:cs typeface="Arial"/>
              </a:rPr>
              <a:t>Programación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Concurrente:</a:t>
            </a:r>
            <a:r>
              <a:rPr dirty="0" sz="1100" spc="114" b="1">
                <a:latin typeface="Arial"/>
                <a:cs typeface="Arial"/>
              </a:rPr>
              <a:t> </a:t>
            </a:r>
            <a:r>
              <a:rPr dirty="0" sz="1100" spc="-55">
                <a:latin typeface="Arial MT"/>
                <a:cs typeface="Arial MT"/>
              </a:rPr>
              <a:t>diferentes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partes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un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ejecutan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independientemente.</a:t>
            </a:r>
            <a:endParaRPr sz="1100">
              <a:latin typeface="Arial MT"/>
              <a:cs typeface="Arial MT"/>
            </a:endParaRPr>
          </a:p>
          <a:p>
            <a:pPr marL="314960" marR="3048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 b="1">
                <a:latin typeface="Arial"/>
                <a:cs typeface="Arial"/>
              </a:rPr>
              <a:t>Programación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Paralela:</a:t>
            </a:r>
            <a:r>
              <a:rPr dirty="0" sz="1100" spc="100" b="1">
                <a:latin typeface="Arial"/>
                <a:cs typeface="Arial"/>
              </a:rPr>
              <a:t> </a:t>
            </a:r>
            <a:r>
              <a:rPr dirty="0" sz="1100" spc="-55">
                <a:latin typeface="Arial MT"/>
                <a:cs typeface="Arial MT"/>
              </a:rPr>
              <a:t>diferentes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partes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se </a:t>
            </a:r>
            <a:r>
              <a:rPr dirty="0" sz="1100" spc="-50">
                <a:latin typeface="Arial MT"/>
                <a:cs typeface="Arial MT"/>
              </a:rPr>
              <a:t>ejecutan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exactamente</a:t>
            </a:r>
            <a:r>
              <a:rPr dirty="0" sz="1100">
                <a:latin typeface="Arial MT"/>
                <a:cs typeface="Arial MT"/>
              </a:rPr>
              <a:t> al </a:t>
            </a:r>
            <a:r>
              <a:rPr dirty="0" sz="1100" spc="-60">
                <a:latin typeface="Arial MT"/>
                <a:cs typeface="Arial MT"/>
              </a:rPr>
              <a:t>mismo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tiempo.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1100" spc="-12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 spc="-40">
                <a:latin typeface="Arial MT"/>
                <a:cs typeface="Arial MT"/>
              </a:rPr>
              <a:t>oncurrente: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Overlapping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tiempos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procesos.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646501"/>
            <a:ext cx="3599860" cy="12250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1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60"/>
              <a:t>¿Por</a:t>
            </a:r>
            <a:r>
              <a:rPr dirty="0" spc="65"/>
              <a:t> </a:t>
            </a:r>
            <a:r>
              <a:rPr dirty="0" spc="-165"/>
              <a:t>qué</a:t>
            </a:r>
            <a:r>
              <a:rPr dirty="0" spc="65"/>
              <a:t> </a:t>
            </a:r>
            <a:r>
              <a:rPr dirty="0" spc="-130"/>
              <a:t>estudiamos</a:t>
            </a:r>
            <a:r>
              <a:rPr dirty="0" spc="70"/>
              <a:t> </a:t>
            </a:r>
            <a:r>
              <a:rPr dirty="0" spc="-110"/>
              <a:t>concurrencia?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823085"/>
            <a:ext cx="3865245" cy="179641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14629" marR="30480" indent="-177165">
              <a:lnSpc>
                <a:spcPts val="1200"/>
              </a:lnSpc>
              <a:spcBef>
                <a:spcPts val="229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25">
                <a:latin typeface="Arial MT"/>
                <a:cs typeface="Arial MT"/>
              </a:rPr>
              <a:t>Motivos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históricos: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los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últimos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años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  <a:hlinkClick r:id="rId2"/>
              </a:rPr>
              <a:t>Ley</a:t>
            </a:r>
            <a:r>
              <a:rPr dirty="0" sz="1100" spc="-15">
                <a:latin typeface="Arial MT"/>
                <a:cs typeface="Arial MT"/>
                <a:hlinkClick r:id="rId2"/>
              </a:rPr>
              <a:t> </a:t>
            </a:r>
            <a:r>
              <a:rPr dirty="0" sz="1100" spc="-90">
                <a:latin typeface="Arial MT"/>
                <a:cs typeface="Arial MT"/>
                <a:hlinkClick r:id="rId2"/>
              </a:rPr>
              <a:t>de</a:t>
            </a:r>
            <a:r>
              <a:rPr dirty="0" sz="1100" spc="15">
                <a:latin typeface="Arial MT"/>
                <a:cs typeface="Arial MT"/>
                <a:hlinkClick r:id="rId2"/>
              </a:rPr>
              <a:t> </a:t>
            </a:r>
            <a:r>
              <a:rPr dirty="0" sz="1100" spc="-45">
                <a:latin typeface="Arial MT"/>
                <a:cs typeface="Arial MT"/>
                <a:hlinkClick r:id="rId2"/>
              </a:rPr>
              <a:t>Moore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quedó </a:t>
            </a:r>
            <a:r>
              <a:rPr dirty="0" sz="1100" spc="-10">
                <a:latin typeface="Arial MT"/>
                <a:cs typeface="Arial MT"/>
              </a:rPr>
              <a:t>obsoleta.</a:t>
            </a:r>
            <a:endParaRPr sz="1100">
              <a:latin typeface="Arial MT"/>
              <a:cs typeface="Arial MT"/>
            </a:endParaRPr>
          </a:p>
          <a:p>
            <a:pPr lvl="1" marL="490220" indent="-165735">
              <a:lnSpc>
                <a:spcPts val="1200"/>
              </a:lnSpc>
              <a:spcBef>
                <a:spcPts val="150"/>
              </a:spcBef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60" i="1">
                <a:latin typeface="Arial"/>
                <a:cs typeface="Arial"/>
              </a:rPr>
              <a:t>Power</a:t>
            </a:r>
            <a:r>
              <a:rPr dirty="0" sz="1000" spc="1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wall.</a:t>
            </a:r>
            <a:endParaRPr sz="1000">
              <a:latin typeface="Arial"/>
              <a:cs typeface="Arial"/>
            </a:endParaRPr>
          </a:p>
          <a:p>
            <a:pPr lvl="1" marL="490220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40">
                <a:latin typeface="Arial MT"/>
                <a:cs typeface="Arial MT"/>
                <a:hlinkClick r:id="rId3"/>
              </a:rPr>
              <a:t>Dennard</a:t>
            </a:r>
            <a:r>
              <a:rPr dirty="0" sz="1000" spc="-5">
                <a:latin typeface="Arial MT"/>
                <a:cs typeface="Arial MT"/>
                <a:hlinkClick r:id="rId3"/>
              </a:rPr>
              <a:t> </a:t>
            </a:r>
            <a:r>
              <a:rPr dirty="0" sz="1000" spc="-10">
                <a:latin typeface="Arial MT"/>
                <a:cs typeface="Arial MT"/>
                <a:hlinkClick r:id="rId3"/>
              </a:rPr>
              <a:t>scaling</a:t>
            </a:r>
            <a:r>
              <a:rPr dirty="0" sz="1000" spc="-1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lvl="1" marL="490220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65">
                <a:latin typeface="Arial MT"/>
                <a:cs typeface="Arial MT"/>
              </a:rPr>
              <a:t>Queremos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explotar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los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sistemas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 i="1">
                <a:latin typeface="Arial"/>
                <a:cs typeface="Arial"/>
              </a:rPr>
              <a:t>Multi-</a:t>
            </a:r>
            <a:r>
              <a:rPr dirty="0" sz="1000" spc="-20" i="1">
                <a:latin typeface="Arial"/>
                <a:cs typeface="Arial"/>
              </a:rPr>
              <a:t>core</a:t>
            </a:r>
            <a:r>
              <a:rPr dirty="0" sz="1000" spc="-2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214629" marR="309880" indent="-177165">
              <a:lnSpc>
                <a:spcPts val="12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50">
                <a:latin typeface="Arial MT"/>
                <a:cs typeface="Arial MT"/>
              </a:rPr>
              <a:t>Existen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programas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cuya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performance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mejorada </a:t>
            </a:r>
            <a:r>
              <a:rPr dirty="0" sz="1100" spc="-30">
                <a:latin typeface="Arial MT"/>
                <a:cs typeface="Arial MT"/>
              </a:rPr>
              <a:t>utilizando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concurrencia.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Generalmente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aquellos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que </a:t>
            </a:r>
            <a:r>
              <a:rPr dirty="0" sz="1100" spc="-55">
                <a:latin typeface="Arial MT"/>
                <a:cs typeface="Arial MT"/>
              </a:rPr>
              <a:t>realizan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algún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tipo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operación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E/S.</a:t>
            </a:r>
            <a:endParaRPr sz="1100">
              <a:latin typeface="Arial MT"/>
              <a:cs typeface="Arial MT"/>
            </a:endParaRPr>
          </a:p>
          <a:p>
            <a:pPr lvl="1" marL="490220" indent="-165735">
              <a:lnSpc>
                <a:spcPts val="1200"/>
              </a:lnSpc>
              <a:spcBef>
                <a:spcPts val="145"/>
              </a:spcBef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50">
                <a:latin typeface="Arial MT"/>
                <a:cs typeface="Arial MT"/>
              </a:rPr>
              <a:t>Leer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escribir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datos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memoria.</a:t>
            </a:r>
            <a:endParaRPr sz="1000">
              <a:latin typeface="Arial MT"/>
              <a:cs typeface="Arial MT"/>
            </a:endParaRPr>
          </a:p>
          <a:p>
            <a:pPr lvl="1" marL="490220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60">
                <a:latin typeface="Arial MT"/>
                <a:cs typeface="Arial MT"/>
              </a:rPr>
              <a:t>Comunicarse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dispositivos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hardware.</a:t>
            </a:r>
            <a:endParaRPr sz="1000">
              <a:latin typeface="Arial MT"/>
              <a:cs typeface="Arial MT"/>
            </a:endParaRPr>
          </a:p>
          <a:p>
            <a:pPr lvl="1" marL="490220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45">
                <a:latin typeface="Arial MT"/>
                <a:cs typeface="Arial MT"/>
              </a:rPr>
              <a:t>Servidor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que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atiende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solicitudes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distintos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clientes.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4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4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4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2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5"/>
              <a:t>Definiciones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572781"/>
            <a:ext cx="3864610" cy="24771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14629" marR="24447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20" b="1">
                <a:latin typeface="Arial"/>
                <a:cs typeface="Arial"/>
              </a:rPr>
              <a:t>Programa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concurrente: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spc="-70">
                <a:latin typeface="Arial MT"/>
                <a:cs typeface="Arial MT"/>
              </a:rPr>
              <a:t>consiste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conjunto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finito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90">
                <a:latin typeface="Arial MT"/>
                <a:cs typeface="Arial MT"/>
              </a:rPr>
              <a:t>procesos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secuenciales.</a:t>
            </a:r>
            <a:endParaRPr sz="1100">
              <a:latin typeface="Arial MT"/>
              <a:cs typeface="Arial MT"/>
            </a:endParaRPr>
          </a:p>
          <a:p>
            <a:pPr marL="214629" marR="483234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60" b="1">
                <a:latin typeface="Arial"/>
                <a:cs typeface="Arial"/>
              </a:rPr>
              <a:t>Procesos: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spc="-60">
                <a:latin typeface="Arial MT"/>
                <a:cs typeface="Arial MT"/>
              </a:rPr>
              <a:t>están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compuestos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conjunto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finito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55">
                <a:latin typeface="Arial MT"/>
                <a:cs typeface="Arial MT"/>
              </a:rPr>
              <a:t>instrucciones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atómicas.</a:t>
            </a:r>
            <a:endParaRPr sz="1100">
              <a:latin typeface="Arial MT"/>
              <a:cs typeface="Arial MT"/>
            </a:endParaRPr>
          </a:p>
          <a:p>
            <a:pPr marL="214629" marR="234315" indent="-177165">
              <a:lnSpc>
                <a:spcPts val="1200"/>
              </a:lnSpc>
              <a:spcBef>
                <a:spcPts val="31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45" b="1">
                <a:latin typeface="Arial"/>
                <a:cs typeface="Arial"/>
              </a:rPr>
              <a:t>Ejecución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del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programa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concurrente: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spc="-35">
                <a:latin typeface="Arial MT"/>
                <a:cs typeface="Arial MT"/>
              </a:rPr>
              <a:t>resulta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ejecutar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secuencia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instrucciones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atómicas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obtiene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30">
                <a:latin typeface="Arial MT"/>
                <a:cs typeface="Arial MT"/>
              </a:rPr>
              <a:t>intercalar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arbitrariamente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las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instrucciones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atómicas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los </a:t>
            </a:r>
            <a:r>
              <a:rPr dirty="0" sz="1100" spc="-90">
                <a:latin typeface="Arial MT"/>
                <a:cs typeface="Arial MT"/>
              </a:rPr>
              <a:t>procesos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componen.</a:t>
            </a:r>
            <a:endParaRPr sz="1100">
              <a:latin typeface="Arial MT"/>
              <a:cs typeface="Arial MT"/>
            </a:endParaRPr>
          </a:p>
          <a:p>
            <a:pPr lvl="1" marL="489584" marR="30480" indent="-165735"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Lucida Sans Unicode"/>
              <a:buChar char="►"/>
              <a:tabLst>
                <a:tab pos="492125" algn="l"/>
              </a:tabLst>
            </a:pPr>
            <a:r>
              <a:rPr dirty="0" sz="1000">
                <a:latin typeface="Arial MT"/>
                <a:cs typeface="Arial MT"/>
              </a:rPr>
              <a:t>El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intercalamiento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14">
                <a:latin typeface="Arial MT"/>
                <a:cs typeface="Arial MT"/>
              </a:rPr>
              <a:t>es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40" b="1">
                <a:latin typeface="Trebuchet MS"/>
                <a:cs typeface="Trebuchet MS"/>
              </a:rPr>
              <a:t>arbitrario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spc="-35">
                <a:latin typeface="Arial MT"/>
                <a:cs typeface="Arial MT"/>
              </a:rPr>
              <a:t>ya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que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quién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decide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qué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 spc="-65">
                <a:latin typeface="Arial MT"/>
                <a:cs typeface="Arial MT"/>
              </a:rPr>
              <a:t>proceso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25">
                <a:latin typeface="Arial MT"/>
                <a:cs typeface="Arial MT"/>
              </a:rPr>
              <a:t>se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va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45">
                <a:latin typeface="Arial MT"/>
                <a:cs typeface="Arial MT"/>
              </a:rPr>
              <a:t> estar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ejecutando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en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instante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tiempo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25">
                <a:latin typeface="Arial MT"/>
                <a:cs typeface="Arial MT"/>
              </a:rPr>
              <a:t>es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el </a:t>
            </a:r>
            <a:r>
              <a:rPr dirty="0" sz="1000" spc="-35">
                <a:latin typeface="Arial MT"/>
                <a:cs typeface="Arial MT"/>
              </a:rPr>
              <a:t>	</a:t>
            </a:r>
            <a:r>
              <a:rPr dirty="0" sz="1000" spc="-25">
                <a:latin typeface="Arial MT"/>
                <a:cs typeface="Arial MT"/>
              </a:rPr>
              <a:t>SO.</a:t>
            </a:r>
            <a:endParaRPr sz="1000">
              <a:latin typeface="Arial MT"/>
              <a:cs typeface="Arial MT"/>
            </a:endParaRPr>
          </a:p>
          <a:p>
            <a:pPr lvl="1" marL="490220" indent="-165735">
              <a:lnSpc>
                <a:spcPts val="1185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>
                <a:latin typeface="Arial MT"/>
                <a:cs typeface="Arial MT"/>
              </a:rPr>
              <a:t>El</a:t>
            </a:r>
            <a:r>
              <a:rPr dirty="0" sz="1000" spc="-6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módulo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SO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14">
                <a:latin typeface="Arial MT"/>
                <a:cs typeface="Arial MT"/>
              </a:rPr>
              <a:t>se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denomina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 i="1">
                <a:latin typeface="Arial"/>
                <a:cs typeface="Arial"/>
              </a:rPr>
              <a:t>scheduler</a:t>
            </a:r>
            <a:r>
              <a:rPr dirty="0" sz="1000" spc="-1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lvl="1" marL="490220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40">
                <a:latin typeface="Arial MT"/>
                <a:cs typeface="Arial MT"/>
              </a:rPr>
              <a:t>Existen</a:t>
            </a:r>
            <a:r>
              <a:rPr dirty="0" sz="1000" spc="-10">
                <a:latin typeface="Arial MT"/>
                <a:cs typeface="Arial MT"/>
              </a:rPr>
              <a:t> distintos </a:t>
            </a:r>
            <a:r>
              <a:rPr dirty="0" sz="1000" spc="-30">
                <a:latin typeface="Arial MT"/>
                <a:cs typeface="Arial MT"/>
              </a:rPr>
              <a:t>algoritmos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políticas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0" i="1">
                <a:latin typeface="Arial"/>
                <a:cs typeface="Arial"/>
              </a:rPr>
              <a:t>scheduling</a:t>
            </a:r>
            <a:r>
              <a:rPr dirty="0" sz="1000" spc="-1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lvl="1" marL="490220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60">
                <a:latin typeface="Arial MT"/>
                <a:cs typeface="Arial MT"/>
              </a:rPr>
              <a:t>Cada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vez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que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SO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cambia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proceso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ejecución,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ocurre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un</a:t>
            </a:r>
            <a:endParaRPr sz="1000">
              <a:latin typeface="Arial MT"/>
              <a:cs typeface="Arial MT"/>
            </a:endParaRPr>
          </a:p>
          <a:p>
            <a:pPr marL="492125">
              <a:lnSpc>
                <a:spcPts val="1200"/>
              </a:lnSpc>
            </a:pPr>
            <a:r>
              <a:rPr dirty="0" sz="1000" spc="-35" i="1">
                <a:latin typeface="Arial"/>
                <a:cs typeface="Arial"/>
              </a:rPr>
              <a:t>context-</a:t>
            </a:r>
            <a:r>
              <a:rPr dirty="0" sz="1000" spc="-10" i="1">
                <a:latin typeface="Arial"/>
                <a:cs typeface="Arial"/>
              </a:rPr>
              <a:t>switch</a:t>
            </a:r>
            <a:r>
              <a:rPr dirty="0" sz="1000" spc="-1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3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14"/>
              <a:t>Ejecución</a:t>
            </a:r>
            <a:r>
              <a:rPr dirty="0" spc="15"/>
              <a:t> </a:t>
            </a:r>
            <a:r>
              <a:rPr dirty="0" spc="-90"/>
              <a:t>del</a:t>
            </a:r>
            <a:r>
              <a:rPr dirty="0" spc="15"/>
              <a:t> </a:t>
            </a:r>
            <a:r>
              <a:rPr dirty="0" spc="-125"/>
              <a:t>programa</a:t>
            </a:r>
            <a:r>
              <a:rPr dirty="0" spc="15"/>
              <a:t> </a:t>
            </a:r>
            <a:r>
              <a:rPr dirty="0" spc="-90"/>
              <a:t>concurrente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678102"/>
            <a:ext cx="377126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95">
                <a:latin typeface="Arial MT"/>
                <a:cs typeface="Arial MT"/>
              </a:rPr>
              <a:t>¿Cómo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darse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concurrente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con </a:t>
            </a:r>
            <a:r>
              <a:rPr dirty="0" sz="1100" spc="-75">
                <a:latin typeface="Arial MT"/>
                <a:cs typeface="Arial MT"/>
              </a:rPr>
              <a:t>dos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procesos?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001" y="1287065"/>
            <a:ext cx="3397563" cy="11278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7294" y="2656470"/>
            <a:ext cx="36722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latin typeface="Arial MT"/>
                <a:cs typeface="Arial MT"/>
              </a:rPr>
              <a:t>¿Qué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sucede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hora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 i="1">
                <a:latin typeface="Arial"/>
                <a:cs typeface="Arial"/>
              </a:rPr>
              <a:t>debuggear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concurrente?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4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40"/>
              <a:t>Desafíos</a:t>
            </a:r>
            <a:r>
              <a:rPr dirty="0" spc="20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/>
              <a:t>la</a:t>
            </a:r>
            <a:r>
              <a:rPr dirty="0" spc="-90"/>
              <a:t> </a:t>
            </a:r>
            <a:r>
              <a:rPr dirty="0" spc="-110"/>
              <a:t>concurrencia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1104809"/>
            <a:ext cx="3794760" cy="10001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80">
                <a:latin typeface="Arial MT"/>
                <a:cs typeface="Arial MT"/>
              </a:rPr>
              <a:t>Necesidad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sincronizar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comunicar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procesos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diferentes.</a:t>
            </a:r>
            <a:endParaRPr sz="1100">
              <a:latin typeface="Arial MT"/>
              <a:cs typeface="Arial MT"/>
            </a:endParaRPr>
          </a:p>
          <a:p>
            <a:pPr marL="314960" marR="3302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 b="1">
                <a:latin typeface="Arial"/>
                <a:cs typeface="Arial"/>
              </a:rPr>
              <a:t>Sincronización: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55">
                <a:latin typeface="Arial MT"/>
                <a:cs typeface="Arial MT"/>
              </a:rPr>
              <a:t>coordinación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temporal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distintos procesos</a:t>
            </a:r>
            <a:endParaRPr sz="1100">
              <a:latin typeface="Arial MT"/>
              <a:cs typeface="Arial MT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0" b="1">
                <a:latin typeface="Arial"/>
                <a:cs typeface="Arial"/>
              </a:rPr>
              <a:t>Comunicación: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spc="-40">
                <a:latin typeface="Arial MT"/>
                <a:cs typeface="Arial MT"/>
              </a:rPr>
              <a:t>datos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necesitan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compartir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procesos para</a:t>
            </a:r>
            <a:r>
              <a:rPr dirty="0" sz="1100" spc="-20">
                <a:latin typeface="Arial MT"/>
                <a:cs typeface="Arial MT"/>
              </a:rPr>
              <a:t> cumplir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función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programa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5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5"/>
              <a:t>Problemas</a:t>
            </a:r>
            <a:r>
              <a:rPr dirty="0" spc="5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/>
              <a:t>la</a:t>
            </a:r>
            <a:r>
              <a:rPr dirty="0" spc="5"/>
              <a:t> </a:t>
            </a:r>
            <a:r>
              <a:rPr dirty="0" spc="-125"/>
              <a:t>Concurrencia</a:t>
            </a:r>
            <a:r>
              <a:rPr dirty="0" spc="25"/>
              <a:t> </a:t>
            </a:r>
            <a:r>
              <a:rPr dirty="0" spc="-25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467929"/>
            <a:ext cx="3964940" cy="11722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60" b="1">
                <a:latin typeface="Arial"/>
                <a:cs typeface="Arial"/>
              </a:rPr>
              <a:t>Condiciones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10" b="1">
                <a:latin typeface="Arial"/>
                <a:cs typeface="Arial"/>
              </a:rPr>
              <a:t> carrera</a:t>
            </a:r>
            <a:endParaRPr sz="1100">
              <a:latin typeface="Arial"/>
              <a:cs typeface="Arial"/>
            </a:endParaRPr>
          </a:p>
          <a:p>
            <a:pPr marL="314960" marR="45085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hilos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acceden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datos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 spc="-80">
                <a:latin typeface="Arial MT"/>
                <a:cs typeface="Arial MT"/>
              </a:rPr>
              <a:t>recursos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orden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inconsistente.</a:t>
            </a:r>
            <a:endParaRPr sz="1100">
              <a:latin typeface="Arial MT"/>
              <a:cs typeface="Arial MT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salida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depende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orden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las </a:t>
            </a:r>
            <a:r>
              <a:rPr dirty="0" sz="1100" spc="-60">
                <a:latin typeface="Arial MT"/>
                <a:cs typeface="Arial MT"/>
              </a:rPr>
              <a:t>instrucciones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atómicas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(</a:t>
            </a:r>
            <a:r>
              <a:rPr dirty="0" sz="1100" spc="-45" i="1">
                <a:latin typeface="Arial"/>
                <a:cs typeface="Arial"/>
              </a:rPr>
              <a:t>interleaving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55">
                <a:latin typeface="Arial MT"/>
                <a:cs typeface="Arial MT"/>
              </a:rPr>
              <a:t>)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los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procesos.</a:t>
            </a:r>
            <a:r>
              <a:rPr dirty="0" sz="1100" spc="1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salida </a:t>
            </a:r>
            <a:r>
              <a:rPr dirty="0" sz="1100" spc="-140">
                <a:latin typeface="Arial MT"/>
                <a:cs typeface="Arial MT"/>
              </a:rPr>
              <a:t>es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no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determinística.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483" y="1874990"/>
            <a:ext cx="2597150" cy="10731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6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5"/>
              <a:t>Problemas</a:t>
            </a:r>
            <a:r>
              <a:rPr dirty="0" spc="5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/>
              <a:t>la</a:t>
            </a:r>
            <a:r>
              <a:rPr dirty="0" spc="5"/>
              <a:t> </a:t>
            </a:r>
            <a:r>
              <a:rPr dirty="0" spc="-125"/>
              <a:t>Concurrencia</a:t>
            </a:r>
            <a:r>
              <a:rPr dirty="0" spc="25"/>
              <a:t> </a:t>
            </a:r>
            <a:r>
              <a:rPr dirty="0" spc="-25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1205520"/>
            <a:ext cx="3913504" cy="9372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5" b="1">
                <a:latin typeface="Arial"/>
                <a:cs typeface="Arial"/>
              </a:rPr>
              <a:t>Deadlocks:</a:t>
            </a:r>
            <a:r>
              <a:rPr dirty="0" sz="1100" spc="100" b="1">
                <a:latin typeface="Arial"/>
                <a:cs typeface="Arial"/>
              </a:rPr>
              <a:t> </a:t>
            </a:r>
            <a:r>
              <a:rPr dirty="0" sz="1100" spc="-70">
                <a:latin typeface="Arial MT"/>
                <a:cs typeface="Arial MT"/>
              </a:rPr>
              <a:t>donde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dos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hilos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están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esperando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uno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otro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avanzar,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requiriendo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recurso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 </a:t>
            </a:r>
            <a:r>
              <a:rPr dirty="0" sz="1100" spc="-20">
                <a:latin typeface="Arial MT"/>
                <a:cs typeface="Arial MT"/>
              </a:rPr>
              <a:t>otro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tiene,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previniendo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que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ambos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avancen.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hay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 i="1">
                <a:latin typeface="Arial"/>
                <a:cs typeface="Arial"/>
              </a:rPr>
              <a:t>progreso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productivo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2700" marR="83185">
              <a:lnSpc>
                <a:spcPct val="102600"/>
              </a:lnSpc>
              <a:spcBef>
                <a:spcPts val="450"/>
              </a:spcBef>
            </a:pPr>
            <a:r>
              <a:rPr dirty="0" sz="1100" spc="-40">
                <a:latin typeface="Arial MT"/>
                <a:cs typeface="Arial MT"/>
              </a:rPr>
              <a:t>Aparición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bugs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manifiestan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escenario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particular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son </a:t>
            </a:r>
            <a:r>
              <a:rPr dirty="0" sz="1100" spc="-45">
                <a:latin typeface="Arial MT"/>
                <a:cs typeface="Arial MT"/>
              </a:rPr>
              <a:t>difíciles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reproducir.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7410" y="3182077"/>
            <a:ext cx="139255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1.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Introducción</a:t>
            </a:r>
            <a:r>
              <a:rPr dirty="0" sz="800" spc="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a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5375" y="3203359"/>
            <a:ext cx="92265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Depto.</a:t>
            </a:r>
            <a:r>
              <a:rPr dirty="0" sz="600" spc="3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0087CC"/>
                </a:solidFill>
                <a:latin typeface="Verdana"/>
                <a:cs typeface="Verdana"/>
              </a:rPr>
              <a:t>de</a:t>
            </a:r>
            <a:r>
              <a:rPr dirty="0" sz="600" spc="-25">
                <a:solidFill>
                  <a:srgbClr val="0087C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0087CC"/>
                </a:solidFill>
                <a:latin typeface="Verdana"/>
                <a:cs typeface="Verdana"/>
              </a:rPr>
              <a:t>Computación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1658" rIns="0" bIns="0" rtlCol="0" vert="horz">
            <a:spAutoFit/>
          </a:bodyPr>
          <a:lstStyle/>
          <a:p>
            <a:pPr marL="973455">
              <a:lnSpc>
                <a:spcPct val="100000"/>
              </a:lnSpc>
              <a:spcBef>
                <a:spcPts val="60"/>
              </a:spcBef>
            </a:pPr>
            <a:r>
              <a:rPr dirty="0" spc="-25"/>
              <a:t>7</a:t>
            </a:r>
            <a:r>
              <a:rPr dirty="0" spc="-25"/>
              <a:t>/3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525145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0"/>
              <a:t>Índice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0257" y="956726"/>
            <a:ext cx="2270760" cy="1345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15265" algn="l"/>
              </a:tabLst>
            </a:pPr>
            <a:r>
              <a:rPr dirty="0" sz="1400" spc="-40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Introducción </a:t>
            </a:r>
            <a:r>
              <a:rPr dirty="0" sz="1400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a</a:t>
            </a:r>
            <a:r>
              <a:rPr dirty="0" sz="1400" spc="-35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1400" spc="-70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endParaRPr sz="1400">
              <a:latin typeface="Arial MT"/>
              <a:cs typeface="Arial MT"/>
            </a:endParaRPr>
          </a:p>
          <a:p>
            <a:pPr marL="215265" indent="-202565">
              <a:lnSpc>
                <a:spcPts val="1664"/>
              </a:lnSpc>
              <a:spcBef>
                <a:spcPts val="1300"/>
              </a:spcBef>
              <a:buAutoNum type="arabicPeriod"/>
              <a:tabLst>
                <a:tab pos="215265" algn="l"/>
              </a:tabLst>
            </a:pPr>
            <a:r>
              <a:rPr dirty="0" sz="1400" spc="-105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Procesos</a:t>
            </a:r>
            <a:r>
              <a:rPr dirty="0" sz="1400" spc="1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40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y</a:t>
            </a:r>
            <a:r>
              <a:rPr dirty="0" sz="1400" spc="1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400" spc="-1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Threads</a:t>
            </a:r>
            <a:endParaRPr sz="1400">
              <a:latin typeface="Arial MT"/>
              <a:cs typeface="Arial MT"/>
            </a:endParaRPr>
          </a:p>
          <a:p>
            <a:pPr marL="462280" marR="1296035">
              <a:lnSpc>
                <a:spcPts val="1350"/>
              </a:lnSpc>
              <a:spcBef>
                <a:spcPts val="5"/>
              </a:spcBef>
            </a:pPr>
            <a:r>
              <a:rPr dirty="0" sz="1100" spc="-90">
                <a:latin typeface="Arial MT"/>
                <a:cs typeface="Arial MT"/>
                <a:hlinkClick r:id="rId4" action="ppaction://hlinksldjump"/>
              </a:rPr>
              <a:t>Procesos</a:t>
            </a:r>
            <a:r>
              <a:rPr dirty="0" sz="1100" spc="-9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  <a:hlinkClick r:id="rId5" action="ppaction://hlinksldjump"/>
              </a:rPr>
              <a:t>Threads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buAutoNum type="arabicPeriod" startAt="3"/>
              <a:tabLst>
                <a:tab pos="215265" algn="l"/>
              </a:tabLst>
            </a:pPr>
            <a:r>
              <a:rPr dirty="0" sz="1400" spc="-70">
                <a:solidFill>
                  <a:srgbClr val="D6D6EF"/>
                </a:solidFill>
                <a:latin typeface="Arial MT"/>
                <a:cs typeface="Arial MT"/>
                <a:hlinkClick r:id="rId6" action="ppaction://hlinksldjump"/>
              </a:rPr>
              <a:t>Concurrencia</a:t>
            </a:r>
            <a:r>
              <a:rPr dirty="0" sz="1400" spc="-5">
                <a:solidFill>
                  <a:srgbClr val="D6D6E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400" spc="-95">
                <a:solidFill>
                  <a:srgbClr val="D6D6EF"/>
                </a:solidFill>
                <a:latin typeface="Arial MT"/>
                <a:cs typeface="Arial MT"/>
                <a:hlinkClick r:id="rId6" action="ppaction://hlinksldjump"/>
              </a:rPr>
              <a:t>en</a:t>
            </a:r>
            <a:r>
              <a:rPr dirty="0" sz="1400" spc="-5">
                <a:solidFill>
                  <a:srgbClr val="D6D6E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400" spc="-20">
                <a:solidFill>
                  <a:srgbClr val="D6D6EF"/>
                </a:solidFill>
                <a:latin typeface="Arial MT"/>
                <a:cs typeface="Arial MT"/>
                <a:hlinkClick r:id="rId6" action="ppaction://hlinksldjump"/>
              </a:rPr>
              <a:t>Rust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1591945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50"/>
              <a:t>Procesos</a:t>
            </a:r>
            <a:r>
              <a:rPr dirty="0" spc="55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55"/>
              <a:t>UNIX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736356"/>
            <a:ext cx="3964940" cy="19589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Arial MT"/>
                <a:cs typeface="Arial MT"/>
              </a:rPr>
              <a:t>Un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está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formado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por:</a:t>
            </a:r>
            <a:endParaRPr sz="1100">
              <a:latin typeface="Arial MT"/>
              <a:cs typeface="Arial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>
                <a:latin typeface="Arial MT"/>
                <a:cs typeface="Arial MT"/>
              </a:rPr>
              <a:t>Programa: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instrucciones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que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conforman</a:t>
            </a:r>
            <a:r>
              <a:rPr dirty="0" sz="1100" spc="-20">
                <a:latin typeface="Arial MT"/>
                <a:cs typeface="Arial MT"/>
              </a:rPr>
              <a:t> 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ejecutar</a:t>
            </a:r>
            <a:endParaRPr sz="1100">
              <a:latin typeface="Arial MT"/>
              <a:cs typeface="Arial MT"/>
            </a:endParaRPr>
          </a:p>
          <a:p>
            <a:pPr marL="314960" marR="35052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5">
                <a:latin typeface="Arial MT"/>
                <a:cs typeface="Arial MT"/>
              </a:rPr>
              <a:t>Datos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usuario: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espacio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memoria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modificable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el </a:t>
            </a:r>
            <a:r>
              <a:rPr dirty="0" sz="1100" spc="-50">
                <a:latin typeface="Arial MT"/>
                <a:cs typeface="Arial MT"/>
              </a:rPr>
              <a:t>usuario,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ejemplo: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datos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propios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programa,</a:t>
            </a:r>
            <a:r>
              <a:rPr dirty="0" sz="1100" spc="-20">
                <a:latin typeface="Arial MT"/>
                <a:cs typeface="Arial MT"/>
              </a:rPr>
              <a:t> heap</a:t>
            </a:r>
            <a:endParaRPr sz="1100">
              <a:latin typeface="Arial MT"/>
              <a:cs typeface="Arial MT"/>
            </a:endParaRPr>
          </a:p>
          <a:p>
            <a:pPr marL="314960" marR="4375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>
                <a:latin typeface="Arial MT"/>
                <a:cs typeface="Arial MT"/>
              </a:rPr>
              <a:t>Pila</a:t>
            </a:r>
            <a:r>
              <a:rPr dirty="0" sz="1100" spc="-45">
                <a:latin typeface="Arial MT"/>
                <a:cs typeface="Arial MT"/>
              </a:rPr>
              <a:t> del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sistema: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utiliza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almacenar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parámetros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y </a:t>
            </a:r>
            <a:r>
              <a:rPr dirty="0" sz="1100" spc="-65">
                <a:latin typeface="Arial MT"/>
                <a:cs typeface="Arial MT"/>
              </a:rPr>
              <a:t>direcciones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retorno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durante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llamado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subrutinas</a:t>
            </a:r>
            <a:endParaRPr sz="1100">
              <a:latin typeface="Arial MT"/>
              <a:cs typeface="Arial MT"/>
            </a:endParaRPr>
          </a:p>
          <a:p>
            <a:pPr marL="314960" indent="-17716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0">
                <a:latin typeface="Arial MT"/>
                <a:cs typeface="Arial MT"/>
              </a:rPr>
              <a:t>Estructuras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datos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10">
                <a:latin typeface="Arial MT"/>
                <a:cs typeface="Arial MT"/>
              </a:rPr>
              <a:t> kernel:</a:t>
            </a:r>
            <a:endParaRPr sz="1100">
              <a:latin typeface="Arial MT"/>
              <a:cs typeface="Arial MT"/>
            </a:endParaRPr>
          </a:p>
          <a:p>
            <a:pPr lvl="1" marL="589915" indent="-16573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589915" algn="l"/>
              </a:tabLst>
            </a:pPr>
            <a:r>
              <a:rPr dirty="0" sz="1000">
                <a:latin typeface="Arial MT"/>
                <a:cs typeface="Arial MT"/>
              </a:rPr>
              <a:t>Fila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tabla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procesos: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PCB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(Process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Control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Block)</a:t>
            </a:r>
            <a:endParaRPr sz="1000">
              <a:latin typeface="Arial MT"/>
              <a:cs typeface="Arial MT"/>
            </a:endParaRPr>
          </a:p>
          <a:p>
            <a:pPr marL="38100" marR="78740">
              <a:lnSpc>
                <a:spcPct val="102699"/>
              </a:lnSpc>
              <a:spcBef>
                <a:spcPts val="320"/>
              </a:spcBef>
            </a:pPr>
            <a:r>
              <a:rPr dirty="0" sz="1100" spc="-85">
                <a:latin typeface="Arial MT"/>
                <a:cs typeface="Arial MT"/>
              </a:rPr>
              <a:t>Podemos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decir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es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instancia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 </a:t>
            </a:r>
            <a:r>
              <a:rPr dirty="0" sz="1100" spc="-55">
                <a:latin typeface="Arial MT"/>
                <a:cs typeface="Arial MT"/>
              </a:rPr>
              <a:t>programa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en </a:t>
            </a:r>
            <a:r>
              <a:rPr dirty="0" sz="1100" spc="-10">
                <a:latin typeface="Arial MT"/>
                <a:cs typeface="Arial MT"/>
              </a:rPr>
              <a:t>ejecución.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733" y="3182077"/>
            <a:ext cx="1004569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2.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Procesos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y</a:t>
            </a:r>
            <a:r>
              <a:rPr dirty="0" sz="800" spc="5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Threads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8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50"/>
              <a:t>Procesos</a:t>
            </a:r>
            <a:r>
              <a:rPr dirty="0" spc="30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55"/>
              <a:t>UNIX</a:t>
            </a:r>
            <a:r>
              <a:rPr dirty="0" spc="-5"/>
              <a:t> </a:t>
            </a:r>
            <a:r>
              <a:rPr dirty="0" spc="-20"/>
              <a:t>(II)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4594" y="444764"/>
            <a:ext cx="3883025" cy="268033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75"/>
              </a:spcBef>
            </a:pPr>
            <a:r>
              <a:rPr dirty="0" sz="1100" spc="-45">
                <a:latin typeface="Arial MT"/>
                <a:cs typeface="Arial MT"/>
              </a:rPr>
              <a:t>Información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control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SO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almacena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 i="1">
                <a:latin typeface="Arial"/>
                <a:cs typeface="Arial"/>
              </a:rPr>
              <a:t>PCB</a:t>
            </a:r>
            <a:r>
              <a:rPr dirty="0" sz="1100" spc="-2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302260" indent="-17716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302260" algn="l"/>
              </a:tabLst>
            </a:pPr>
            <a:r>
              <a:rPr dirty="0" sz="1100" spc="-35">
                <a:latin typeface="Arial MT"/>
                <a:cs typeface="Arial MT"/>
              </a:rPr>
              <a:t>Datos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identificación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proceso</a:t>
            </a:r>
            <a:endParaRPr sz="1100">
              <a:latin typeface="Arial MT"/>
              <a:cs typeface="Arial MT"/>
            </a:endParaRPr>
          </a:p>
          <a:p>
            <a:pPr lvl="1" marL="577215" indent="-16573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30">
                <a:latin typeface="Arial MT"/>
                <a:cs typeface="Arial MT"/>
              </a:rPr>
              <a:t>Identificador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del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proceso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30">
                <a:latin typeface="Arial MT"/>
                <a:cs typeface="Arial MT"/>
              </a:rPr>
              <a:t>Identificador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del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proceso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que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creó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30">
                <a:latin typeface="Arial MT"/>
                <a:cs typeface="Arial MT"/>
              </a:rPr>
              <a:t>Identificador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usuario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 </a:t>
            </a:r>
            <a:r>
              <a:rPr dirty="0" sz="1000" spc="-20">
                <a:latin typeface="Arial MT"/>
                <a:cs typeface="Arial MT"/>
              </a:rPr>
              <a:t>del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grupo</a:t>
            </a:r>
            <a:endParaRPr sz="1000">
              <a:latin typeface="Arial MT"/>
              <a:cs typeface="Arial MT"/>
            </a:endParaRPr>
          </a:p>
          <a:p>
            <a:pPr marL="302260" marR="43180" indent="-177165">
              <a:lnSpc>
                <a:spcPts val="12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02260" algn="l"/>
              </a:tabLst>
            </a:pPr>
            <a:r>
              <a:rPr dirty="0" sz="1100" spc="-35">
                <a:latin typeface="Arial MT"/>
                <a:cs typeface="Arial MT"/>
              </a:rPr>
              <a:t>Datos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estado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proceso: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permite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suspender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 </a:t>
            </a:r>
            <a:r>
              <a:rPr dirty="0" sz="1100" spc="-35">
                <a:latin typeface="Arial MT"/>
                <a:cs typeface="Arial MT"/>
              </a:rPr>
              <a:t>retomar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el </a:t>
            </a:r>
            <a:r>
              <a:rPr dirty="0" sz="1100" spc="-10">
                <a:latin typeface="Arial MT"/>
                <a:cs typeface="Arial MT"/>
              </a:rPr>
              <a:t>proceso</a:t>
            </a:r>
            <a:endParaRPr sz="1100">
              <a:latin typeface="Arial MT"/>
              <a:cs typeface="Arial MT"/>
            </a:endParaRPr>
          </a:p>
          <a:p>
            <a:pPr lvl="1" marL="577215" indent="-165735">
              <a:lnSpc>
                <a:spcPts val="1200"/>
              </a:lnSpc>
              <a:spcBef>
                <a:spcPts val="150"/>
              </a:spcBef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45">
                <a:latin typeface="Arial MT"/>
                <a:cs typeface="Arial MT"/>
              </a:rPr>
              <a:t>Registros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 </a:t>
            </a:r>
            <a:r>
              <a:rPr dirty="0" sz="1000" spc="-25">
                <a:latin typeface="Arial MT"/>
                <a:cs typeface="Arial MT"/>
              </a:rPr>
              <a:t>propósito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general</a:t>
            </a:r>
            <a:r>
              <a:rPr dirty="0" sz="1000" spc="-20">
                <a:latin typeface="Arial MT"/>
                <a:cs typeface="Arial MT"/>
              </a:rPr>
              <a:t> de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</a:t>
            </a:r>
            <a:r>
              <a:rPr dirty="0" sz="1000" spc="-25">
                <a:latin typeface="Arial MT"/>
                <a:cs typeface="Arial MT"/>
              </a:rPr>
              <a:t> CPU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25">
                <a:latin typeface="Arial MT"/>
                <a:cs typeface="Arial MT"/>
              </a:rPr>
              <a:t>Stack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pointer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20">
                <a:latin typeface="Arial MT"/>
                <a:cs typeface="Arial MT"/>
              </a:rPr>
              <a:t>Instruction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pointer</a:t>
            </a:r>
            <a:endParaRPr sz="1000">
              <a:latin typeface="Arial MT"/>
              <a:cs typeface="Arial MT"/>
            </a:endParaRPr>
          </a:p>
          <a:p>
            <a:pPr marL="302260" indent="-177165">
              <a:lnSpc>
                <a:spcPct val="100000"/>
              </a:lnSpc>
              <a:spcBef>
                <a:spcPts val="195"/>
              </a:spcBef>
              <a:buClr>
                <a:srgbClr val="3333B2"/>
              </a:buClr>
              <a:buFont typeface="Lucida Sans Unicode"/>
              <a:buChar char="►"/>
              <a:tabLst>
                <a:tab pos="302260" algn="l"/>
              </a:tabLst>
            </a:pPr>
            <a:r>
              <a:rPr dirty="0" sz="1100" spc="-35">
                <a:latin typeface="Arial MT"/>
                <a:cs typeface="Arial MT"/>
              </a:rPr>
              <a:t>Datos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control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proceso</a:t>
            </a:r>
            <a:endParaRPr sz="1100">
              <a:latin typeface="Arial MT"/>
              <a:cs typeface="Arial MT"/>
            </a:endParaRPr>
          </a:p>
          <a:p>
            <a:pPr lvl="1" marL="576580" marR="224154" indent="-16573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579120" algn="l"/>
              </a:tabLst>
            </a:pPr>
            <a:r>
              <a:rPr dirty="0" sz="1000" spc="-40">
                <a:latin typeface="Arial MT"/>
                <a:cs typeface="Arial MT"/>
              </a:rPr>
              <a:t>Estado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proceso</a:t>
            </a:r>
            <a:r>
              <a:rPr dirty="0" sz="1000">
                <a:latin typeface="Arial MT"/>
                <a:cs typeface="Arial MT"/>
              </a:rPr>
              <a:t> y otra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información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0" i="1">
                <a:latin typeface="Arial"/>
                <a:cs typeface="Arial"/>
              </a:rPr>
              <a:t>scheduling</a:t>
            </a:r>
            <a:r>
              <a:rPr dirty="0" sz="1000" i="1">
                <a:latin typeface="Arial"/>
                <a:cs typeface="Arial"/>
              </a:rPr>
              <a:t> </a:t>
            </a:r>
            <a:r>
              <a:rPr dirty="0" sz="1000" spc="-10">
                <a:latin typeface="Arial MT"/>
                <a:cs typeface="Arial MT"/>
              </a:rPr>
              <a:t>(p.ej. 	prioridad)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190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20">
                <a:latin typeface="Arial MT"/>
                <a:cs typeface="Arial MT"/>
              </a:rPr>
              <a:t>Estructura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proceso: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identificadores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los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hijos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20">
                <a:latin typeface="Arial MT"/>
                <a:cs typeface="Arial MT"/>
              </a:rPr>
              <a:t>Datos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IPC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(señales,</a:t>
            </a:r>
            <a:r>
              <a:rPr dirty="0" sz="1000" spc="-10">
                <a:latin typeface="Arial MT"/>
                <a:cs typeface="Arial MT"/>
              </a:rPr>
              <a:t> mensajes)</a:t>
            </a:r>
            <a:endParaRPr sz="1000">
              <a:latin typeface="Arial MT"/>
              <a:cs typeface="Arial MT"/>
            </a:endParaRPr>
          </a:p>
          <a:p>
            <a:pPr lvl="1" marL="577215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577215" algn="l"/>
              </a:tabLst>
            </a:pPr>
            <a:r>
              <a:rPr dirty="0" sz="1000" spc="-50">
                <a:latin typeface="Arial MT"/>
                <a:cs typeface="Arial MT"/>
              </a:rPr>
              <a:t>Contadores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tiempo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uso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</a:t>
            </a:r>
            <a:r>
              <a:rPr dirty="0" sz="1000" spc="-25">
                <a:latin typeface="Arial MT"/>
                <a:cs typeface="Arial MT"/>
              </a:rPr>
              <a:t> CPU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733" y="3182077"/>
            <a:ext cx="1004569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2.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Procesos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y</a:t>
            </a:r>
            <a:r>
              <a:rPr dirty="0" sz="800" spc="5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Threads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9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30"/>
              <a:t>Creación</a:t>
            </a:r>
            <a:r>
              <a:rPr dirty="0" spc="10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 spc="-75"/>
              <a:t>un</a:t>
            </a:r>
            <a:r>
              <a:rPr dirty="0" spc="5"/>
              <a:t> </a:t>
            </a:r>
            <a:r>
              <a:rPr dirty="0" spc="-130"/>
              <a:t>proceso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1005609"/>
            <a:ext cx="3935729" cy="12477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105">
                <a:latin typeface="Arial MT"/>
                <a:cs typeface="Arial MT"/>
              </a:rPr>
              <a:t>¿En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qué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momento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crea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proceso?</a:t>
            </a:r>
            <a:endParaRPr sz="1100">
              <a:latin typeface="Arial MT"/>
              <a:cs typeface="Arial MT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45">
                <a:latin typeface="Arial MT"/>
                <a:cs typeface="Arial MT"/>
              </a:rPr>
              <a:t>Inicialización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sistema</a:t>
            </a:r>
            <a:endParaRPr sz="1100">
              <a:latin typeface="Arial MT"/>
              <a:cs typeface="Arial MT"/>
            </a:endParaRPr>
          </a:p>
          <a:p>
            <a:pPr marL="314960" marR="30480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55">
                <a:latin typeface="Arial MT"/>
                <a:cs typeface="Arial MT"/>
              </a:rPr>
              <a:t>Ejecución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llamada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sistema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parte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otro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proceso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está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(system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call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 i="1">
                <a:latin typeface="Arial"/>
                <a:cs typeface="Arial"/>
              </a:rPr>
              <a:t>fork()</a:t>
            </a:r>
            <a:r>
              <a:rPr dirty="0" sz="1100" spc="-1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30">
                <a:latin typeface="Arial MT"/>
                <a:cs typeface="Arial MT"/>
              </a:rPr>
              <a:t>Por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pedido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usuario</a:t>
            </a:r>
            <a:endParaRPr sz="1100">
              <a:latin typeface="Arial MT"/>
              <a:cs typeface="Arial MT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25">
                <a:latin typeface="Arial MT"/>
                <a:cs typeface="Arial MT"/>
              </a:rPr>
              <a:t>Inicio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 i="1">
                <a:latin typeface="Arial"/>
                <a:cs typeface="Arial"/>
              </a:rPr>
              <a:t>batch job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733" y="3182077"/>
            <a:ext cx="1004569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2.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Procesos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y</a:t>
            </a:r>
            <a:r>
              <a:rPr dirty="0" sz="800" spc="5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Threads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10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298" y="712"/>
            <a:ext cx="3200400" cy="58229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8430">
              <a:lnSpc>
                <a:spcPct val="107400"/>
              </a:lnSpc>
              <a:spcBef>
                <a:spcPts val="95"/>
              </a:spcBef>
            </a:pPr>
            <a:r>
              <a:rPr dirty="0" spc="-140"/>
              <a:t>Estados</a:t>
            </a:r>
            <a:r>
              <a:rPr dirty="0" spc="10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 spc="-125"/>
              <a:t>ejecución</a:t>
            </a:r>
            <a:r>
              <a:rPr dirty="0" spc="30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 spc="-75"/>
              <a:t>un</a:t>
            </a:r>
            <a:r>
              <a:rPr dirty="0" spc="50"/>
              <a:t> </a:t>
            </a:r>
            <a:r>
              <a:rPr dirty="0" spc="-130"/>
              <a:t>proceso </a:t>
            </a:r>
            <a:r>
              <a:rPr dirty="0" spc="-10"/>
              <a:t>(teórico)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798436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996" y="1080211"/>
            <a:ext cx="3233473" cy="16134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31733" y="3182077"/>
            <a:ext cx="1004569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2.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Procesos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y</a:t>
            </a:r>
            <a:r>
              <a:rPr dirty="0" sz="800" spc="5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Threads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11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 spc="15"/>
              <a:t> </a:t>
            </a:r>
            <a:r>
              <a:rPr dirty="0" spc="-75"/>
              <a:t>Introducción</a:t>
            </a:r>
            <a:r>
              <a:rPr dirty="0" spc="15"/>
              <a:t> </a:t>
            </a:r>
            <a:r>
              <a:rPr dirty="0" spc="-25"/>
              <a:t>(1)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784846"/>
            <a:ext cx="3825875" cy="18923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26543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 MT"/>
                <a:cs typeface="Arial MT"/>
              </a:rPr>
              <a:t>Un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 b="1" i="1">
                <a:latin typeface="Arial"/>
                <a:cs typeface="Arial"/>
              </a:rPr>
              <a:t>thread</a:t>
            </a:r>
            <a:r>
              <a:rPr dirty="0" sz="1100" spc="85" b="1" i="1">
                <a:latin typeface="Arial"/>
                <a:cs typeface="Arial"/>
              </a:rPr>
              <a:t> </a:t>
            </a:r>
            <a:r>
              <a:rPr dirty="0" sz="1100" spc="-140">
                <a:latin typeface="Arial MT"/>
                <a:cs typeface="Arial MT"/>
              </a:rPr>
              <a:t>es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unidad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vive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dentro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un </a:t>
            </a:r>
            <a:r>
              <a:rPr dirty="0" sz="1100" spc="-10">
                <a:latin typeface="Arial MT"/>
                <a:cs typeface="Arial MT"/>
              </a:rPr>
              <a:t>proceso.</a:t>
            </a:r>
            <a:endParaRPr sz="1100">
              <a:latin typeface="Arial MT"/>
              <a:cs typeface="Arial MT"/>
            </a:endParaRPr>
          </a:p>
          <a:p>
            <a:pPr marL="314960" marR="3175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70">
                <a:latin typeface="Arial MT"/>
                <a:cs typeface="Arial MT"/>
              </a:rPr>
              <a:t>Nos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referimos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un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varios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como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un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10" i="1">
                <a:latin typeface="Arial"/>
                <a:cs typeface="Arial"/>
              </a:rPr>
              <a:t>multithread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314960" marR="14160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viven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dentro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ejecutan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en </a:t>
            </a:r>
            <a:r>
              <a:rPr dirty="0" sz="1100" spc="-30">
                <a:latin typeface="Arial MT"/>
                <a:cs typeface="Arial MT"/>
              </a:rPr>
              <a:t>forma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concurrente.</a:t>
            </a:r>
            <a:endParaRPr sz="1100">
              <a:latin typeface="Arial MT"/>
              <a:cs typeface="Arial MT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0">
                <a:latin typeface="Arial MT"/>
                <a:cs typeface="Arial MT"/>
              </a:rPr>
              <a:t>Un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es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similar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pero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menor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5">
                <a:latin typeface="Arial MT"/>
                <a:cs typeface="Arial MT"/>
              </a:rPr>
              <a:t>carga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contexto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propio.</a:t>
            </a:r>
            <a:endParaRPr sz="1100">
              <a:latin typeface="Arial MT"/>
              <a:cs typeface="Arial MT"/>
            </a:endParaRPr>
          </a:p>
          <a:p>
            <a:pPr marL="314960" marR="3556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viven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dentro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proceso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comparten </a:t>
            </a:r>
            <a:r>
              <a:rPr dirty="0" sz="1100" spc="-35">
                <a:latin typeface="Arial MT"/>
                <a:cs typeface="Arial MT"/>
              </a:rPr>
              <a:t>contexto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sí.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733" y="3182077"/>
            <a:ext cx="1004569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2.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Procesos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y</a:t>
            </a:r>
            <a:r>
              <a:rPr dirty="0" sz="800" spc="5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Threads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12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 spc="15"/>
              <a:t> </a:t>
            </a:r>
            <a:r>
              <a:rPr dirty="0" spc="-75"/>
              <a:t>Introducción</a:t>
            </a:r>
            <a:r>
              <a:rPr dirty="0" spc="15"/>
              <a:t> </a:t>
            </a:r>
            <a:r>
              <a:rPr dirty="0" spc="-25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485088"/>
            <a:ext cx="379857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comparten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recursos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proceso,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ellos,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el </a:t>
            </a:r>
            <a:r>
              <a:rPr dirty="0" sz="1100" spc="-85">
                <a:latin typeface="Arial MT"/>
                <a:cs typeface="Arial MT"/>
              </a:rPr>
              <a:t>espacio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memoria.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Cada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mantiene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su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propia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información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estado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(stack,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PC,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registros).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996" y="1141637"/>
            <a:ext cx="3240231" cy="18686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31733" y="3182077"/>
            <a:ext cx="1004569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2.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Procesos</a:t>
            </a:r>
            <a:r>
              <a:rPr dirty="0" sz="800" spc="4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y</a:t>
            </a:r>
            <a:r>
              <a:rPr dirty="0" sz="800" spc="5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Threads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13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525145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0"/>
              <a:t>Índice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0257" y="854923"/>
            <a:ext cx="2270760" cy="1680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15265" algn="l"/>
              </a:tabLst>
            </a:pPr>
            <a:r>
              <a:rPr dirty="0" sz="1400" spc="-40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Introducción </a:t>
            </a:r>
            <a:r>
              <a:rPr dirty="0" sz="1400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a</a:t>
            </a:r>
            <a:r>
              <a:rPr dirty="0" sz="1400" spc="-35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1400" spc="-70">
                <a:solidFill>
                  <a:srgbClr val="D6D6EF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endParaRPr sz="14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215265" algn="l"/>
              </a:tabLst>
            </a:pPr>
            <a:r>
              <a:rPr dirty="0" sz="1400" spc="-10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Procesos</a:t>
            </a:r>
            <a:r>
              <a:rPr dirty="0" sz="1400" spc="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4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y</a:t>
            </a:r>
            <a:r>
              <a:rPr dirty="0" sz="1400" spc="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4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Threads</a:t>
            </a:r>
            <a:endParaRPr sz="1400">
              <a:latin typeface="Arial MT"/>
              <a:cs typeface="Arial MT"/>
            </a:endParaRPr>
          </a:p>
          <a:p>
            <a:pPr marL="215265" indent="-202565">
              <a:lnSpc>
                <a:spcPts val="1664"/>
              </a:lnSpc>
              <a:spcBef>
                <a:spcPts val="1300"/>
              </a:spcBef>
              <a:buAutoNum type="arabicPeriod"/>
              <a:tabLst>
                <a:tab pos="215265" algn="l"/>
              </a:tabLst>
            </a:pPr>
            <a:r>
              <a:rPr dirty="0" sz="1400" spc="-70">
                <a:solidFill>
                  <a:srgbClr val="3333B2"/>
                </a:solidFill>
                <a:latin typeface="Arial MT"/>
                <a:cs typeface="Arial MT"/>
                <a:hlinkClick r:id="rId4" action="ppaction://hlinksldjump"/>
              </a:rPr>
              <a:t>Concurrencia</a:t>
            </a:r>
            <a:r>
              <a:rPr dirty="0" sz="1400" spc="-5">
                <a:solidFill>
                  <a:srgbClr val="3333B2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1400" spc="-95">
                <a:solidFill>
                  <a:srgbClr val="3333B2"/>
                </a:solidFill>
                <a:latin typeface="Arial MT"/>
                <a:cs typeface="Arial MT"/>
                <a:hlinkClick r:id="rId4" action="ppaction://hlinksldjump"/>
              </a:rPr>
              <a:t>en</a:t>
            </a:r>
            <a:r>
              <a:rPr dirty="0" sz="1400" spc="-5">
                <a:solidFill>
                  <a:srgbClr val="3333B2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1400" spc="-20">
                <a:solidFill>
                  <a:srgbClr val="3333B2"/>
                </a:solidFill>
                <a:latin typeface="Arial MT"/>
                <a:cs typeface="Arial MT"/>
                <a:hlinkClick r:id="rId4" action="ppaction://hlinksldjump"/>
              </a:rPr>
              <a:t>Rust</a:t>
            </a:r>
            <a:endParaRPr sz="1400">
              <a:latin typeface="Arial MT"/>
              <a:cs typeface="Arial MT"/>
            </a:endParaRPr>
          </a:p>
          <a:p>
            <a:pPr marL="462280" marR="718820">
              <a:lnSpc>
                <a:spcPts val="1350"/>
              </a:lnSpc>
              <a:spcBef>
                <a:spcPts val="5"/>
              </a:spcBef>
            </a:pPr>
            <a:r>
              <a:rPr dirty="0" sz="1100" spc="-10">
                <a:latin typeface="Arial MT"/>
                <a:cs typeface="Arial MT"/>
                <a:hlinkClick r:id="rId5" action="ppaction://hlinksldjump"/>
              </a:rPr>
              <a:t>Introducción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  <a:hlinkClick r:id="rId6" action="ppaction://hlinksldjump"/>
              </a:rPr>
              <a:t>Traits</a:t>
            </a:r>
            <a:r>
              <a:rPr dirty="0" sz="1100" spc="-40"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100">
                <a:latin typeface="Arial MT"/>
                <a:cs typeface="Arial MT"/>
                <a:hlinkClick r:id="rId6" action="ppaction://hlinksldjump"/>
              </a:rPr>
              <a:t>Send</a:t>
            </a:r>
            <a:r>
              <a:rPr dirty="0" sz="1100" spc="25"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latin typeface="Arial MT"/>
                <a:cs typeface="Arial MT"/>
                <a:hlinkClick r:id="rId6" action="ppaction://hlinksldjump"/>
              </a:rPr>
              <a:t>y </a:t>
            </a:r>
            <a:r>
              <a:rPr dirty="0" sz="1100" spc="-70">
                <a:latin typeface="Arial MT"/>
                <a:cs typeface="Arial MT"/>
                <a:hlinkClick r:id="rId6" action="ppaction://hlinksldjump"/>
              </a:rPr>
              <a:t>Sync</a:t>
            </a:r>
            <a:endParaRPr sz="1100">
              <a:latin typeface="Arial MT"/>
              <a:cs typeface="Arial MT"/>
            </a:endParaRPr>
          </a:p>
          <a:p>
            <a:pPr marL="462280">
              <a:lnSpc>
                <a:spcPts val="1310"/>
              </a:lnSpc>
            </a:pPr>
            <a:r>
              <a:rPr dirty="0" sz="1100" spc="-85">
                <a:latin typeface="Arial MT"/>
                <a:cs typeface="Arial MT"/>
                <a:hlinkClick r:id="rId7" action="ppaction://hlinksldjump"/>
              </a:rPr>
              <a:t>Pasaje</a:t>
            </a:r>
            <a:r>
              <a:rPr dirty="0" sz="1100" spc="25"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1100" spc="-80">
                <a:latin typeface="Arial MT"/>
                <a:cs typeface="Arial MT"/>
                <a:hlinkClick r:id="rId7" action="ppaction://hlinksldjump"/>
              </a:rPr>
              <a:t>de</a:t>
            </a:r>
            <a:r>
              <a:rPr dirty="0" sz="1100" spc="30"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7" action="ppaction://hlinksldjump"/>
              </a:rPr>
              <a:t>mensajes</a:t>
            </a:r>
            <a:endParaRPr sz="1100">
              <a:latin typeface="Arial MT"/>
              <a:cs typeface="Arial MT"/>
            </a:endParaRPr>
          </a:p>
          <a:p>
            <a:pPr marL="462280">
              <a:lnSpc>
                <a:spcPct val="100000"/>
              </a:lnSpc>
              <a:spcBef>
                <a:spcPts val="35"/>
              </a:spcBef>
            </a:pPr>
            <a:r>
              <a:rPr dirty="0" sz="1100" spc="-55">
                <a:latin typeface="Arial MT"/>
                <a:cs typeface="Arial MT"/>
                <a:hlinkClick r:id="rId8" action="ppaction://hlinksldjump"/>
              </a:rPr>
              <a:t>Estado</a:t>
            </a:r>
            <a:r>
              <a:rPr dirty="0" sz="1100" spc="-15"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1100" spc="-40">
                <a:latin typeface="Arial MT"/>
                <a:cs typeface="Arial MT"/>
                <a:hlinkClick r:id="rId8" action="ppaction://hlinksldjump"/>
              </a:rPr>
              <a:t>mutable</a:t>
            </a:r>
            <a:r>
              <a:rPr dirty="0" sz="1100" spc="-10">
                <a:latin typeface="Arial MT"/>
                <a:cs typeface="Arial MT"/>
                <a:hlinkClick r:id="rId8" action="ppaction://hlinksldjump"/>
              </a:rPr>
              <a:t> compartido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1863089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5"/>
              <a:t>Concurrencia</a:t>
            </a:r>
            <a:r>
              <a:rPr dirty="0" spc="80"/>
              <a:t> </a:t>
            </a:r>
            <a:r>
              <a:rPr dirty="0" spc="-185"/>
              <a:t>en</a:t>
            </a:r>
            <a:r>
              <a:rPr dirty="0" spc="80"/>
              <a:t> </a:t>
            </a:r>
            <a:r>
              <a:rPr dirty="0" spc="-70"/>
              <a:t>Rust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1045805"/>
            <a:ext cx="3639820" cy="13004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14960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mecanismo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ownership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10">
                <a:latin typeface="Arial MT"/>
                <a:cs typeface="Arial MT"/>
              </a:rPr>
              <a:t> el </a:t>
            </a:r>
            <a:r>
              <a:rPr dirty="0" sz="1100" spc="-55">
                <a:latin typeface="Arial MT"/>
                <a:cs typeface="Arial MT"/>
              </a:rPr>
              <a:t>sistema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tipos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Rust </a:t>
            </a:r>
            <a:r>
              <a:rPr dirty="0" sz="1100" spc="-80">
                <a:latin typeface="Arial MT"/>
                <a:cs typeface="Arial MT"/>
              </a:rPr>
              <a:t>previene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problemas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 </a:t>
            </a:r>
            <a:r>
              <a:rPr dirty="0" sz="1100" spc="-55">
                <a:latin typeface="Arial MT"/>
                <a:cs typeface="Arial MT"/>
              </a:rPr>
              <a:t>Concurrencia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tiempo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10">
                <a:latin typeface="Arial MT"/>
                <a:cs typeface="Arial MT"/>
              </a:rPr>
              <a:t>compilación.</a:t>
            </a:r>
            <a:endParaRPr sz="1100">
              <a:latin typeface="Arial MT"/>
              <a:cs typeface="Arial MT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errores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manifiestan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tiempo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compilación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-</a:t>
            </a:r>
            <a:r>
              <a:rPr dirty="0" sz="1100" spc="70">
                <a:latin typeface="Arial MT"/>
                <a:cs typeface="Arial MT"/>
              </a:rPr>
              <a:t>&gt;</a:t>
            </a:r>
            <a:endParaRPr sz="11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dirty="0" sz="1100" spc="-75" i="1">
                <a:latin typeface="Arial"/>
                <a:cs typeface="Arial"/>
              </a:rPr>
              <a:t>fearless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concurrency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dirty="0" sz="1100" spc="-50">
                <a:latin typeface="Arial MT"/>
                <a:cs typeface="Arial MT"/>
              </a:rPr>
              <a:t>Existen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dos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modelos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mapear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threads: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-75" i="1">
                <a:latin typeface="Arial"/>
                <a:cs typeface="Arial"/>
              </a:rPr>
              <a:t>green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60" i="1">
                <a:latin typeface="Arial"/>
                <a:cs typeface="Arial"/>
              </a:rPr>
              <a:t>threads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usar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dirty="0" sz="1100" spc="-60" i="1">
                <a:latin typeface="Arial"/>
                <a:cs typeface="Arial"/>
              </a:rPr>
              <a:t>threads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 spc="-45" i="1">
                <a:latin typeface="Arial"/>
                <a:cs typeface="Arial"/>
              </a:rPr>
              <a:t>del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sistema</a:t>
            </a:r>
            <a:r>
              <a:rPr dirty="0" sz="1100" i="1">
                <a:latin typeface="Arial"/>
                <a:cs typeface="Arial"/>
              </a:rPr>
              <a:t> </a:t>
            </a:r>
            <a:r>
              <a:rPr dirty="0" sz="1100" spc="-40" i="1">
                <a:latin typeface="Arial"/>
                <a:cs typeface="Arial"/>
              </a:rPr>
              <a:t>operativo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(el </a:t>
            </a:r>
            <a:r>
              <a:rPr dirty="0" sz="1100" spc="-50">
                <a:latin typeface="Arial MT"/>
                <a:cs typeface="Arial MT"/>
              </a:rPr>
              <a:t>modelo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Rust).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14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85"/>
              <a:t>Rust</a:t>
            </a:r>
            <a:r>
              <a:rPr dirty="0"/>
              <a:t> </a:t>
            </a:r>
            <a:r>
              <a:rPr dirty="0" spc="-25"/>
              <a:t>(I)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737627"/>
            <a:ext cx="3891279" cy="19837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Arial MT"/>
                <a:cs typeface="Arial MT"/>
              </a:rPr>
              <a:t>Rust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permite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crear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SO,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utilizando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función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Cambria"/>
                <a:cs typeface="Cambria"/>
              </a:rPr>
              <a:t>thread::spawn()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38100" marR="1083945">
              <a:lnSpc>
                <a:spcPct val="102699"/>
              </a:lnSpc>
            </a:pPr>
            <a:r>
              <a:rPr dirty="0" sz="1100" spc="-80">
                <a:latin typeface="Arial MT"/>
                <a:cs typeface="Arial MT"/>
              </a:rPr>
              <a:t>Recibe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como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parámetro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 i="1">
                <a:latin typeface="Arial"/>
                <a:cs typeface="Arial"/>
              </a:rPr>
              <a:t>moving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closure</a:t>
            </a:r>
            <a:r>
              <a:rPr dirty="0" sz="1100" spc="-10">
                <a:latin typeface="Arial MT"/>
                <a:cs typeface="Arial MT"/>
              </a:rPr>
              <a:t>. </a:t>
            </a:r>
            <a:r>
              <a:rPr dirty="0" sz="1100" spc="-50">
                <a:latin typeface="Arial MT"/>
                <a:cs typeface="Arial MT"/>
              </a:rPr>
              <a:t>Retorna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handle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</a:t>
            </a:r>
            <a:r>
              <a:rPr dirty="0" sz="1100" spc="-10" i="1">
                <a:latin typeface="Arial"/>
                <a:cs typeface="Arial"/>
              </a:rPr>
              <a:t>JoinHandle&lt;T&gt;</a:t>
            </a:r>
            <a:r>
              <a:rPr dirty="0" sz="1100" spc="-10">
                <a:latin typeface="Arial MT"/>
                <a:cs typeface="Arial MT"/>
              </a:rPr>
              <a:t>).</a:t>
            </a:r>
            <a:endParaRPr sz="1100">
              <a:latin typeface="Arial MT"/>
              <a:cs typeface="Arial MT"/>
            </a:endParaRPr>
          </a:p>
          <a:p>
            <a:pPr marL="38100" marR="1188085">
              <a:lnSpc>
                <a:spcPct val="100000"/>
              </a:lnSpc>
              <a:spcBef>
                <a:spcPts val="275"/>
              </a:spcBef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409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join_handle:</a:t>
            </a:r>
            <a:r>
              <a:rPr dirty="0" sz="1000" spc="409">
                <a:latin typeface="Georgia"/>
                <a:cs typeface="Georgia"/>
              </a:rPr>
              <a:t> 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thread</a:t>
            </a:r>
            <a:r>
              <a:rPr dirty="0" sz="1000" spc="10">
                <a:latin typeface="Georgia"/>
                <a:cs typeface="Georgia"/>
              </a:rPr>
              <a:t>::JoinHandle</a:t>
            </a:r>
            <a:r>
              <a:rPr dirty="0" sz="1000" spc="10">
                <a:solidFill>
                  <a:srgbClr val="666666"/>
                </a:solidFill>
                <a:latin typeface="Georgia"/>
                <a:cs typeface="Georgia"/>
              </a:rPr>
              <a:t>&lt;</a:t>
            </a:r>
            <a:r>
              <a:rPr dirty="0" sz="1000" spc="10">
                <a:latin typeface="Georgia"/>
                <a:cs typeface="Georgia"/>
              </a:rPr>
              <a:t>_</a:t>
            </a:r>
            <a:r>
              <a:rPr dirty="0" sz="1000" spc="10">
                <a:solidFill>
                  <a:srgbClr val="666666"/>
                </a:solidFill>
                <a:latin typeface="Georgia"/>
                <a:cs typeface="Georgia"/>
              </a:rPr>
              <a:t>&gt;</a:t>
            </a:r>
            <a:r>
              <a:rPr dirty="0" sz="1000" spc="409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20">
                <a:latin typeface="Georgia"/>
                <a:cs typeface="Georgia"/>
              </a:rPr>
              <a:t>thread::spawn(</a:t>
            </a:r>
            <a:r>
              <a:rPr dirty="0" sz="1000" spc="20">
                <a:solidFill>
                  <a:srgbClr val="666666"/>
                </a:solidFill>
                <a:latin typeface="Georgia"/>
                <a:cs typeface="Georgia"/>
              </a:rPr>
              <a:t>||</a:t>
            </a:r>
            <a:r>
              <a:rPr dirty="0" sz="1000" spc="235">
                <a:solidFill>
                  <a:srgbClr val="666666"/>
                </a:solidFill>
                <a:latin typeface="Georgia"/>
                <a:cs typeface="Georgia"/>
              </a:rPr>
              <a:t> 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568960">
              <a:lnSpc>
                <a:spcPts val="1190"/>
              </a:lnSpc>
            </a:pPr>
            <a:r>
              <a:rPr dirty="0" sz="1000" spc="55" i="1">
                <a:solidFill>
                  <a:srgbClr val="3F7F7F"/>
                </a:solidFill>
                <a:latin typeface="Cambria"/>
                <a:cs typeface="Cambria"/>
              </a:rPr>
              <a:t>//</a:t>
            </a:r>
            <a:r>
              <a:rPr dirty="0" sz="1000" spc="31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50" i="1">
                <a:solidFill>
                  <a:srgbClr val="3F7F7F"/>
                </a:solidFill>
                <a:latin typeface="Cambria"/>
                <a:cs typeface="Cambria"/>
              </a:rPr>
              <a:t>codigo</a:t>
            </a:r>
            <a:r>
              <a:rPr dirty="0" sz="1000" spc="31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100" i="1">
                <a:solidFill>
                  <a:srgbClr val="3F7F7F"/>
                </a:solidFill>
                <a:latin typeface="Cambria"/>
                <a:cs typeface="Cambria"/>
              </a:rPr>
              <a:t>del</a:t>
            </a:r>
            <a:r>
              <a:rPr dirty="0" sz="1000" spc="31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50" i="1">
                <a:solidFill>
                  <a:srgbClr val="3F7F7F"/>
                </a:solidFill>
                <a:latin typeface="Cambria"/>
                <a:cs typeface="Cambria"/>
              </a:rPr>
              <a:t>thread</a:t>
            </a:r>
            <a:r>
              <a:rPr dirty="0" sz="1000" spc="31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100" i="1">
                <a:solidFill>
                  <a:srgbClr val="3F7F7F"/>
                </a:solidFill>
                <a:latin typeface="Cambria"/>
                <a:cs typeface="Cambria"/>
              </a:rPr>
              <a:t>hijo</a:t>
            </a:r>
            <a:endParaRPr sz="1000">
              <a:latin typeface="Cambria"/>
              <a:cs typeface="Cambria"/>
            </a:endParaRPr>
          </a:p>
          <a:p>
            <a:pPr marL="38100">
              <a:lnSpc>
                <a:spcPts val="1200"/>
              </a:lnSpc>
            </a:pPr>
            <a:r>
              <a:rPr dirty="0" sz="1000" spc="120">
                <a:latin typeface="Georgia"/>
                <a:cs typeface="Georgia"/>
              </a:rPr>
              <a:t>});</a:t>
            </a:r>
            <a:endParaRPr sz="1000">
              <a:latin typeface="Georgia"/>
              <a:cs typeface="Georgia"/>
            </a:endParaRPr>
          </a:p>
          <a:p>
            <a:pPr marL="314960" indent="-177165">
              <a:lnSpc>
                <a:spcPct val="100000"/>
              </a:lnSpc>
              <a:spcBef>
                <a:spcPts val="65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puestos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scheduler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SO.</a:t>
            </a:r>
            <a:endParaRPr sz="1100">
              <a:latin typeface="Arial MT"/>
              <a:cs typeface="Arial MT"/>
            </a:endParaRPr>
          </a:p>
          <a:p>
            <a:pPr marL="314960" marR="42545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asegurar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nada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sobre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orden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cual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se </a:t>
            </a:r>
            <a:r>
              <a:rPr dirty="0" sz="1100" spc="-50">
                <a:latin typeface="Arial MT"/>
                <a:cs typeface="Arial MT"/>
              </a:rPr>
              <a:t>ejecutarán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las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instrucciones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threads.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15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85"/>
              <a:t>Rust</a:t>
            </a:r>
            <a:r>
              <a:rPr dirty="0"/>
              <a:t> </a:t>
            </a:r>
            <a:r>
              <a:rPr dirty="0" spc="-20"/>
              <a:t>(II)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778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El</a:t>
            </a:r>
            <a:r>
              <a:rPr dirty="0" spc="-45"/>
              <a:t> </a:t>
            </a:r>
            <a:r>
              <a:rPr dirty="0" spc="-35"/>
              <a:t>thread</a:t>
            </a:r>
            <a:r>
              <a:rPr dirty="0" spc="-5"/>
              <a:t> </a:t>
            </a:r>
            <a:r>
              <a:rPr dirty="0" spc="-65"/>
              <a:t>padre</a:t>
            </a:r>
            <a:r>
              <a:rPr dirty="0" spc="-5"/>
              <a:t> </a:t>
            </a:r>
            <a:r>
              <a:rPr dirty="0" spc="-85"/>
              <a:t>puede</a:t>
            </a:r>
            <a:r>
              <a:rPr dirty="0" spc="10"/>
              <a:t> </a:t>
            </a:r>
            <a:r>
              <a:rPr dirty="0" spc="-80"/>
              <a:t>esperar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70"/>
              <a:t>que</a:t>
            </a:r>
            <a:r>
              <a:rPr dirty="0" spc="-5"/>
              <a:t> </a:t>
            </a:r>
            <a:r>
              <a:rPr dirty="0"/>
              <a:t>un</a:t>
            </a:r>
            <a:r>
              <a:rPr dirty="0" spc="-10"/>
              <a:t> </a:t>
            </a:r>
            <a:r>
              <a:rPr dirty="0" spc="-35"/>
              <a:t>thread</a:t>
            </a:r>
            <a:r>
              <a:rPr dirty="0" spc="-5"/>
              <a:t> </a:t>
            </a:r>
            <a:r>
              <a:rPr dirty="0"/>
              <a:t>hijo</a:t>
            </a:r>
            <a:r>
              <a:rPr dirty="0" spc="-5"/>
              <a:t> </a:t>
            </a:r>
            <a:r>
              <a:rPr dirty="0" spc="-75"/>
              <a:t>creado</a:t>
            </a:r>
            <a:r>
              <a:rPr dirty="0"/>
              <a:t> </a:t>
            </a:r>
            <a:r>
              <a:rPr dirty="0" spc="-10"/>
              <a:t>finalice </a:t>
            </a:r>
            <a:r>
              <a:rPr dirty="0" spc="-30"/>
              <a:t>utilizando</a:t>
            </a:r>
            <a:r>
              <a:rPr dirty="0" spc="-25"/>
              <a:t> </a:t>
            </a:r>
            <a:r>
              <a:rPr dirty="0"/>
              <a:t>la</a:t>
            </a:r>
            <a:r>
              <a:rPr dirty="0" spc="-25"/>
              <a:t> </a:t>
            </a:r>
            <a:r>
              <a:rPr dirty="0" spc="-35"/>
              <a:t>función</a:t>
            </a:r>
            <a:r>
              <a:rPr dirty="0" spc="-25"/>
              <a:t> </a:t>
            </a:r>
            <a:r>
              <a:rPr dirty="0" spc="-10"/>
              <a:t>join().</a:t>
            </a:r>
          </a:p>
          <a:p>
            <a:pPr marL="17780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pub</a:t>
            </a:r>
            <a:r>
              <a:rPr dirty="0" sz="1000" spc="25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60">
                <a:solidFill>
                  <a:srgbClr val="007F00"/>
                </a:solidFill>
                <a:latin typeface="Georgia"/>
                <a:cs typeface="Georgia"/>
              </a:rPr>
              <a:t>fn</a:t>
            </a:r>
            <a:r>
              <a:rPr dirty="0" sz="1000" spc="25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join</a:t>
            </a:r>
            <a:r>
              <a:rPr dirty="0" sz="1000" spc="114">
                <a:latin typeface="Georgia"/>
                <a:cs typeface="Georgia"/>
              </a:rPr>
              <a:t>(</a:t>
            </a:r>
            <a:r>
              <a:rPr dirty="0" sz="1000" spc="114">
                <a:solidFill>
                  <a:srgbClr val="007F00"/>
                </a:solidFill>
                <a:latin typeface="Georgia"/>
                <a:cs typeface="Georgia"/>
              </a:rPr>
              <a:t>self</a:t>
            </a:r>
            <a:r>
              <a:rPr dirty="0" sz="1000" spc="114">
                <a:latin typeface="Georgia"/>
                <a:cs typeface="Georgia"/>
              </a:rPr>
              <a:t>)</a:t>
            </a:r>
            <a:r>
              <a:rPr dirty="0" sz="1000" spc="2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-&gt;</a:t>
            </a:r>
            <a:r>
              <a:rPr dirty="0" sz="1000" spc="250"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7F00"/>
                </a:solidFill>
                <a:latin typeface="Georgia"/>
                <a:cs typeface="Georgia"/>
              </a:rPr>
              <a:t>Result</a:t>
            </a:r>
            <a:r>
              <a:rPr dirty="0" sz="1000" spc="-10">
                <a:solidFill>
                  <a:srgbClr val="666666"/>
                </a:solidFill>
                <a:latin typeface="Georgia"/>
                <a:cs typeface="Georgia"/>
              </a:rPr>
              <a:t>&lt;</a:t>
            </a:r>
            <a:r>
              <a:rPr dirty="0" sz="1000" spc="-10">
                <a:latin typeface="Georgia"/>
                <a:cs typeface="Georgia"/>
              </a:rPr>
              <a:t>T</a:t>
            </a:r>
            <a:r>
              <a:rPr dirty="0" sz="1000" spc="-10">
                <a:solidFill>
                  <a:srgbClr val="666666"/>
                </a:solidFill>
                <a:latin typeface="Georgia"/>
                <a:cs typeface="Georgia"/>
              </a:rPr>
              <a:t>&gt;</a:t>
            </a:r>
            <a:endParaRPr sz="1000">
              <a:latin typeface="Georgia"/>
              <a:cs typeface="Georgia"/>
            </a:endParaRPr>
          </a:p>
          <a:p>
            <a:pPr marL="17780">
              <a:lnSpc>
                <a:spcPct val="100000"/>
              </a:lnSpc>
              <a:spcBef>
                <a:spcPts val="355"/>
              </a:spcBef>
            </a:pPr>
            <a:r>
              <a:rPr dirty="0" spc="-145"/>
              <a:t>Se</a:t>
            </a:r>
            <a:r>
              <a:rPr dirty="0" spc="55"/>
              <a:t> </a:t>
            </a:r>
            <a:r>
              <a:rPr dirty="0" spc="-40"/>
              <a:t>invoca</a:t>
            </a:r>
            <a:r>
              <a:rPr dirty="0" spc="-35"/>
              <a:t> </a:t>
            </a:r>
            <a:r>
              <a:rPr dirty="0" spc="-80"/>
              <a:t>sobre</a:t>
            </a:r>
            <a:r>
              <a:rPr dirty="0" spc="5"/>
              <a:t> </a:t>
            </a:r>
            <a:r>
              <a:rPr dirty="0" spc="-10"/>
              <a:t>el</a:t>
            </a:r>
            <a:r>
              <a:rPr dirty="0" spc="-40"/>
              <a:t> </a:t>
            </a:r>
            <a:r>
              <a:rPr dirty="0" spc="-65"/>
              <a:t>handle</a:t>
            </a:r>
            <a:r>
              <a:rPr dirty="0"/>
              <a:t> </a:t>
            </a:r>
            <a:r>
              <a:rPr dirty="0" spc="-45"/>
              <a:t>del</a:t>
            </a:r>
            <a:r>
              <a:rPr dirty="0" spc="-5"/>
              <a:t> </a:t>
            </a:r>
            <a:r>
              <a:rPr dirty="0" spc="-35"/>
              <a:t>thread</a:t>
            </a:r>
            <a:r>
              <a:rPr dirty="0" spc="-5"/>
              <a:t> </a:t>
            </a:r>
            <a:r>
              <a:rPr dirty="0" spc="-45"/>
              <a:t>obtenido</a:t>
            </a:r>
            <a:r>
              <a:rPr dirty="0"/>
              <a:t> </a:t>
            </a:r>
            <a:r>
              <a:rPr dirty="0" spc="-45"/>
              <a:t>con</a:t>
            </a:r>
            <a:r>
              <a:rPr dirty="0" spc="-5"/>
              <a:t> </a:t>
            </a:r>
            <a:r>
              <a:rPr dirty="0" spc="-10"/>
              <a:t>spawn:</a:t>
            </a:r>
          </a:p>
          <a:p>
            <a:pPr marL="17780">
              <a:lnSpc>
                <a:spcPct val="100000"/>
              </a:lnSpc>
              <a:spcBef>
                <a:spcPts val="275"/>
              </a:spcBef>
            </a:pPr>
            <a:r>
              <a:rPr dirty="0" sz="1000" spc="105">
                <a:latin typeface="Georgia"/>
                <a:cs typeface="Georgia"/>
              </a:rPr>
              <a:t>child.join();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16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 spc="40"/>
              <a:t> </a:t>
            </a:r>
            <a:r>
              <a:rPr dirty="0" spc="-185"/>
              <a:t>en</a:t>
            </a:r>
            <a:r>
              <a:rPr dirty="0" spc="70"/>
              <a:t> </a:t>
            </a:r>
            <a:r>
              <a:rPr dirty="0" spc="-85"/>
              <a:t>Rust</a:t>
            </a:r>
            <a:r>
              <a:rPr dirty="0" spc="50"/>
              <a:t> </a:t>
            </a:r>
            <a:r>
              <a:rPr dirty="0"/>
              <a:t>(III)</a:t>
            </a:r>
            <a:r>
              <a:rPr dirty="0" spc="55"/>
              <a:t> </a:t>
            </a:r>
            <a:r>
              <a:rPr dirty="0"/>
              <a:t>-</a:t>
            </a:r>
            <a:r>
              <a:rPr dirty="0" spc="55"/>
              <a:t> </a:t>
            </a:r>
            <a:r>
              <a:rPr dirty="0" spc="-85"/>
              <a:t>Ejemplo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637443"/>
            <a:ext cx="3279775" cy="2303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use</a:t>
            </a:r>
            <a:r>
              <a:rPr dirty="0" sz="1000" spc="32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70">
                <a:latin typeface="Georgia"/>
                <a:cs typeface="Georgia"/>
              </a:rPr>
              <a:t>std::thread;</a:t>
            </a:r>
            <a:endParaRPr sz="1000">
              <a:latin typeface="Georgia"/>
              <a:cs typeface="Georgia"/>
            </a:endParaRPr>
          </a:p>
          <a:p>
            <a:pPr algn="ctr" marR="1519555">
              <a:lnSpc>
                <a:spcPts val="1200"/>
              </a:lnSpc>
            </a:pPr>
            <a:r>
              <a:rPr dirty="0" sz="1000" spc="120">
                <a:solidFill>
                  <a:srgbClr val="007F00"/>
                </a:solidFill>
                <a:latin typeface="Georgia"/>
                <a:cs typeface="Georgia"/>
              </a:rPr>
              <a:t>static</a:t>
            </a:r>
            <a:r>
              <a:rPr dirty="0" sz="1000" spc="22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-120">
                <a:latin typeface="Georgia"/>
                <a:cs typeface="Georgia"/>
              </a:rPr>
              <a:t>NTHREADS:</a:t>
            </a:r>
            <a:r>
              <a:rPr dirty="0" sz="1000" spc="215">
                <a:latin typeface="Georgia"/>
                <a:cs typeface="Georgia"/>
              </a:rPr>
              <a:t> </a:t>
            </a:r>
            <a:r>
              <a:rPr dirty="0" sz="1000" spc="50">
                <a:solidFill>
                  <a:srgbClr val="AF003F"/>
                </a:solidFill>
                <a:latin typeface="Georgia"/>
                <a:cs typeface="Georgia"/>
              </a:rPr>
              <a:t>i32</a:t>
            </a:r>
            <a:r>
              <a:rPr dirty="0" sz="1000" spc="220">
                <a:solidFill>
                  <a:srgbClr val="AF003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2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40">
                <a:solidFill>
                  <a:srgbClr val="666666"/>
                </a:solidFill>
                <a:latin typeface="Georgia"/>
                <a:cs typeface="Georgia"/>
              </a:rPr>
              <a:t>10</a:t>
            </a:r>
            <a:r>
              <a:rPr dirty="0" sz="1000" spc="40">
                <a:latin typeface="Georgia"/>
                <a:cs typeface="Georgia"/>
              </a:rPr>
              <a:t>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55" i="1">
                <a:solidFill>
                  <a:srgbClr val="3F7F7F"/>
                </a:solidFill>
                <a:latin typeface="Cambria"/>
                <a:cs typeface="Cambria"/>
              </a:rPr>
              <a:t>//</a:t>
            </a:r>
            <a:r>
              <a:rPr dirty="0" sz="1000" spc="26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main</a:t>
            </a:r>
            <a:r>
              <a:rPr dirty="0" sz="1000" spc="27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40" i="1">
                <a:solidFill>
                  <a:srgbClr val="3F7F7F"/>
                </a:solidFill>
                <a:latin typeface="Cambria"/>
                <a:cs typeface="Cambria"/>
              </a:rPr>
              <a:t>thread</a:t>
            </a:r>
            <a:endParaRPr sz="1000">
              <a:latin typeface="Cambria"/>
              <a:cs typeface="Cambria"/>
            </a:endParaRPr>
          </a:p>
          <a:p>
            <a:pPr marL="12700">
              <a:lnSpc>
                <a:spcPts val="1195"/>
              </a:lnSpc>
            </a:pPr>
            <a:r>
              <a:rPr dirty="0" sz="1000" spc="60">
                <a:solidFill>
                  <a:srgbClr val="007F00"/>
                </a:solidFill>
                <a:latin typeface="Georgia"/>
                <a:cs typeface="Georgia"/>
              </a:rPr>
              <a:t>fn</a:t>
            </a:r>
            <a:r>
              <a:rPr dirty="0" sz="1000" spc="32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main</a:t>
            </a:r>
            <a:r>
              <a:rPr dirty="0" sz="1000">
                <a:latin typeface="Georgia"/>
                <a:cs typeface="Georgia"/>
              </a:rPr>
              <a:t>()</a:t>
            </a:r>
            <a:r>
              <a:rPr dirty="0" sz="1000" spc="320"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145415">
              <a:lnSpc>
                <a:spcPts val="1195"/>
              </a:lnSpc>
            </a:pPr>
            <a:r>
              <a:rPr dirty="0" sz="1000" spc="55" i="1">
                <a:solidFill>
                  <a:srgbClr val="3F7F7F"/>
                </a:solidFill>
                <a:latin typeface="Cambria"/>
                <a:cs typeface="Cambria"/>
              </a:rPr>
              <a:t>//</a:t>
            </a:r>
            <a:r>
              <a:rPr dirty="0" sz="1000" spc="34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60" i="1">
                <a:solidFill>
                  <a:srgbClr val="3F7F7F"/>
                </a:solidFill>
                <a:latin typeface="Cambria"/>
                <a:cs typeface="Cambria"/>
              </a:rPr>
              <a:t>Vector</a:t>
            </a:r>
            <a:r>
              <a:rPr dirty="0" sz="1000" spc="34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para</a:t>
            </a:r>
            <a:r>
              <a:rPr dirty="0" sz="1000" spc="34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almacenar</a:t>
            </a:r>
            <a:r>
              <a:rPr dirty="0" sz="1000" spc="34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55" i="1">
                <a:solidFill>
                  <a:srgbClr val="3F7F7F"/>
                </a:solidFill>
                <a:latin typeface="Cambria"/>
                <a:cs typeface="Cambria"/>
              </a:rPr>
              <a:t>handles</a:t>
            </a:r>
            <a:r>
              <a:rPr dirty="0" sz="1000" spc="34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de</a:t>
            </a:r>
            <a:r>
              <a:rPr dirty="0" sz="1000" spc="34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125" i="1">
                <a:solidFill>
                  <a:srgbClr val="3F7F7F"/>
                </a:solidFill>
                <a:latin typeface="Cambria"/>
                <a:cs typeface="Cambria"/>
              </a:rPr>
              <a:t>los</a:t>
            </a:r>
            <a:r>
              <a:rPr dirty="0" sz="1000" spc="35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45" i="1">
                <a:solidFill>
                  <a:srgbClr val="3F7F7F"/>
                </a:solidFill>
                <a:latin typeface="Cambria"/>
                <a:cs typeface="Cambria"/>
              </a:rPr>
              <a:t>threads</a:t>
            </a:r>
            <a:endParaRPr sz="1000">
              <a:latin typeface="Cambria"/>
              <a:cs typeface="Cambria"/>
            </a:endParaRPr>
          </a:p>
          <a:p>
            <a:pPr marL="145415">
              <a:lnSpc>
                <a:spcPts val="1200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1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007F00"/>
                </a:solidFill>
                <a:latin typeface="Georgia"/>
                <a:cs typeface="Georgia"/>
              </a:rPr>
              <a:t>mut</a:t>
            </a:r>
            <a:r>
              <a:rPr dirty="0" sz="1000" spc="21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children</a:t>
            </a:r>
            <a:r>
              <a:rPr dirty="0" sz="1000" spc="215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15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vec!</a:t>
            </a:r>
            <a:r>
              <a:rPr dirty="0" sz="1000" spc="100">
                <a:latin typeface="Georgia"/>
                <a:cs typeface="Georgia"/>
              </a:rPr>
              <a:t>[];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algn="ctr" marR="1519555">
              <a:lnSpc>
                <a:spcPts val="1200"/>
              </a:lnSpc>
            </a:pPr>
            <a:r>
              <a:rPr dirty="0" sz="1000" spc="90">
                <a:solidFill>
                  <a:srgbClr val="007F00"/>
                </a:solidFill>
                <a:latin typeface="Georgia"/>
                <a:cs typeface="Georgia"/>
              </a:rPr>
              <a:t>for</a:t>
            </a:r>
            <a:r>
              <a:rPr dirty="0" sz="1000" spc="254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229">
                <a:latin typeface="Georgia"/>
                <a:cs typeface="Georgia"/>
              </a:rPr>
              <a:t>i</a:t>
            </a:r>
            <a:r>
              <a:rPr dirty="0" sz="1000" spc="254">
                <a:latin typeface="Georgia"/>
                <a:cs typeface="Georgia"/>
              </a:rPr>
              <a:t> </a:t>
            </a:r>
            <a:r>
              <a:rPr dirty="0" sz="1000" spc="80">
                <a:solidFill>
                  <a:srgbClr val="007F00"/>
                </a:solidFill>
                <a:latin typeface="Georgia"/>
                <a:cs typeface="Georgia"/>
              </a:rPr>
              <a:t>in</a:t>
            </a:r>
            <a:r>
              <a:rPr dirty="0" sz="1000" spc="25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-85">
                <a:solidFill>
                  <a:srgbClr val="666666"/>
                </a:solidFill>
                <a:latin typeface="Georgia"/>
                <a:cs typeface="Georgia"/>
              </a:rPr>
              <a:t>0..</a:t>
            </a:r>
            <a:r>
              <a:rPr dirty="0" sz="1000" spc="-85">
                <a:latin typeface="Georgia"/>
                <a:cs typeface="Georgia"/>
              </a:rPr>
              <a:t>NTHREADS</a:t>
            </a:r>
            <a:r>
              <a:rPr dirty="0" sz="1000" spc="254"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278130">
              <a:lnSpc>
                <a:spcPts val="1195"/>
              </a:lnSpc>
            </a:pPr>
            <a:r>
              <a:rPr dirty="0" sz="1000" spc="55" i="1">
                <a:solidFill>
                  <a:srgbClr val="3F7F7F"/>
                </a:solidFill>
                <a:latin typeface="Cambria"/>
                <a:cs typeface="Cambria"/>
              </a:rPr>
              <a:t>//</a:t>
            </a:r>
            <a:r>
              <a:rPr dirty="0" sz="1000" spc="38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Crear</a:t>
            </a:r>
            <a:r>
              <a:rPr dirty="0" sz="1000" spc="39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70" i="1">
                <a:solidFill>
                  <a:srgbClr val="3F7F7F"/>
                </a:solidFill>
                <a:latin typeface="Cambria"/>
                <a:cs typeface="Cambria"/>
              </a:rPr>
              <a:t>otro</a:t>
            </a:r>
            <a:r>
              <a:rPr dirty="0" sz="1000" spc="39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40" i="1">
                <a:solidFill>
                  <a:srgbClr val="3F7F7F"/>
                </a:solidFill>
                <a:latin typeface="Cambria"/>
                <a:cs typeface="Cambria"/>
              </a:rPr>
              <a:t>thread</a:t>
            </a:r>
            <a:endParaRPr sz="1000">
              <a:latin typeface="Cambria"/>
              <a:cs typeface="Cambria"/>
            </a:endParaRPr>
          </a:p>
          <a:p>
            <a:pPr marL="410845" marR="203835" indent="-133350">
              <a:lnSpc>
                <a:spcPts val="1200"/>
              </a:lnSpc>
              <a:spcBef>
                <a:spcPts val="35"/>
              </a:spcBef>
            </a:pPr>
            <a:r>
              <a:rPr dirty="0" sz="1000" spc="20">
                <a:latin typeface="Georgia"/>
                <a:cs typeface="Georgia"/>
              </a:rPr>
              <a:t>children.push(thread::spawn(</a:t>
            </a:r>
            <a:r>
              <a:rPr dirty="0" sz="1000" spc="20">
                <a:solidFill>
                  <a:srgbClr val="007F00"/>
                </a:solidFill>
                <a:latin typeface="Georgia"/>
                <a:cs typeface="Georgia"/>
              </a:rPr>
              <a:t>move</a:t>
            </a:r>
            <a:r>
              <a:rPr dirty="0" sz="1000" spc="38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140">
                <a:solidFill>
                  <a:srgbClr val="666666"/>
                </a:solidFill>
                <a:latin typeface="Georgia"/>
                <a:cs typeface="Georgia"/>
              </a:rPr>
              <a:t>||</a:t>
            </a:r>
            <a:r>
              <a:rPr dirty="0" sz="1000" spc="39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 </a:t>
            </a:r>
            <a:r>
              <a:rPr dirty="0" sz="1000" spc="95">
                <a:solidFill>
                  <a:srgbClr val="0000FF"/>
                </a:solidFill>
                <a:latin typeface="Georgia"/>
                <a:cs typeface="Georgia"/>
              </a:rPr>
              <a:t>println!</a:t>
            </a:r>
            <a:r>
              <a:rPr dirty="0" sz="1000" spc="95">
                <a:latin typeface="Georgia"/>
                <a:cs typeface="Georgia"/>
              </a:rPr>
              <a:t>(</a:t>
            </a:r>
            <a:r>
              <a:rPr dirty="0" sz="1000" spc="95">
                <a:solidFill>
                  <a:srgbClr val="BA2121"/>
                </a:solidFill>
                <a:latin typeface="Georgia"/>
                <a:cs typeface="Georgia"/>
              </a:rPr>
              <a:t>"this</a:t>
            </a:r>
            <a:r>
              <a:rPr dirty="0" sz="1000" spc="290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155">
                <a:solidFill>
                  <a:srgbClr val="BA2121"/>
                </a:solidFill>
                <a:latin typeface="Georgia"/>
                <a:cs typeface="Georgia"/>
              </a:rPr>
              <a:t>is</a:t>
            </a:r>
            <a:r>
              <a:rPr dirty="0" sz="1000" spc="295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BA2121"/>
                </a:solidFill>
                <a:latin typeface="Georgia"/>
                <a:cs typeface="Georgia"/>
              </a:rPr>
              <a:t>thread</a:t>
            </a:r>
            <a:r>
              <a:rPr dirty="0" sz="1000" spc="295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-45">
                <a:solidFill>
                  <a:srgbClr val="BA2121"/>
                </a:solidFill>
                <a:latin typeface="Georgia"/>
                <a:cs typeface="Georgia"/>
              </a:rPr>
              <a:t>number</a:t>
            </a:r>
            <a:r>
              <a:rPr dirty="0" sz="1000" spc="295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BA2121"/>
                </a:solidFill>
                <a:latin typeface="Georgia"/>
                <a:cs typeface="Georgia"/>
              </a:rPr>
              <a:t>{}"</a:t>
            </a:r>
            <a:r>
              <a:rPr dirty="0" sz="1000" spc="130">
                <a:latin typeface="Georgia"/>
                <a:cs typeface="Georgia"/>
              </a:rPr>
              <a:t>,</a:t>
            </a:r>
            <a:r>
              <a:rPr dirty="0" sz="1000" spc="295">
                <a:latin typeface="Georgia"/>
                <a:cs typeface="Georgia"/>
              </a:rPr>
              <a:t> </a:t>
            </a:r>
            <a:r>
              <a:rPr dirty="0" sz="1000" spc="165">
                <a:latin typeface="Georgia"/>
                <a:cs typeface="Georgia"/>
              </a:rPr>
              <a:t>i);</a:t>
            </a:r>
            <a:endParaRPr sz="1000">
              <a:latin typeface="Georgia"/>
              <a:cs typeface="Georgia"/>
            </a:endParaRPr>
          </a:p>
          <a:p>
            <a:pPr marL="543560">
              <a:lnSpc>
                <a:spcPts val="1150"/>
              </a:lnSpc>
            </a:pPr>
            <a:r>
              <a:rPr dirty="0" sz="1000" spc="120">
                <a:latin typeface="Georgia"/>
                <a:cs typeface="Georgia"/>
              </a:rPr>
              <a:t>}));</a:t>
            </a:r>
            <a:endParaRPr sz="1000">
              <a:latin typeface="Georgia"/>
              <a:cs typeface="Georgia"/>
            </a:endParaRPr>
          </a:p>
          <a:p>
            <a:pPr marL="145415">
              <a:lnSpc>
                <a:spcPts val="1195"/>
              </a:lnSpc>
            </a:pPr>
            <a:r>
              <a:rPr dirty="0" sz="1000" spc="45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  <a:p>
            <a:pPr marL="145415">
              <a:lnSpc>
                <a:spcPts val="1200"/>
              </a:lnSpc>
            </a:pPr>
            <a:r>
              <a:rPr dirty="0" sz="1000" spc="215">
                <a:solidFill>
                  <a:srgbClr val="666666"/>
                </a:solidFill>
                <a:latin typeface="Georgia"/>
                <a:cs typeface="Georgia"/>
              </a:rPr>
              <a:t>..</a:t>
            </a:r>
            <a:r>
              <a:rPr dirty="0" sz="1000" spc="215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17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 spc="40"/>
              <a:t> </a:t>
            </a:r>
            <a:r>
              <a:rPr dirty="0" spc="-185"/>
              <a:t>en</a:t>
            </a:r>
            <a:r>
              <a:rPr dirty="0" spc="70"/>
              <a:t> </a:t>
            </a:r>
            <a:r>
              <a:rPr dirty="0" spc="-85"/>
              <a:t>Rust</a:t>
            </a:r>
            <a:r>
              <a:rPr dirty="0" spc="50"/>
              <a:t> </a:t>
            </a:r>
            <a:r>
              <a:rPr dirty="0"/>
              <a:t>(III)</a:t>
            </a:r>
            <a:r>
              <a:rPr dirty="0" spc="55"/>
              <a:t> </a:t>
            </a:r>
            <a:r>
              <a:rPr dirty="0"/>
              <a:t>-</a:t>
            </a:r>
            <a:r>
              <a:rPr dirty="0" spc="55"/>
              <a:t> </a:t>
            </a:r>
            <a:r>
              <a:rPr dirty="0" spc="-85"/>
              <a:t>Ejemplo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ts val="1200"/>
              </a:lnSpc>
              <a:spcBef>
                <a:spcPts val="95"/>
              </a:spcBef>
            </a:pPr>
            <a:r>
              <a:rPr dirty="0" sz="1000" spc="215">
                <a:solidFill>
                  <a:srgbClr val="666666"/>
                </a:solidFill>
                <a:latin typeface="Georgia"/>
                <a:cs typeface="Georgia"/>
              </a:rPr>
              <a:t>..</a:t>
            </a:r>
            <a:r>
              <a:rPr dirty="0" sz="1000" spc="215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17780">
              <a:lnSpc>
                <a:spcPts val="1195"/>
              </a:lnSpc>
            </a:pPr>
            <a:r>
              <a:rPr dirty="0" sz="1000" spc="90">
                <a:solidFill>
                  <a:srgbClr val="007F00"/>
                </a:solidFill>
                <a:latin typeface="Georgia"/>
                <a:cs typeface="Georgia"/>
              </a:rPr>
              <a:t>for</a:t>
            </a:r>
            <a:r>
              <a:rPr dirty="0" sz="1000" spc="28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75">
                <a:latin typeface="Georgia"/>
                <a:cs typeface="Georgia"/>
              </a:rPr>
              <a:t>child</a:t>
            </a:r>
            <a:r>
              <a:rPr dirty="0" sz="1000" spc="285">
                <a:latin typeface="Georgia"/>
                <a:cs typeface="Georgia"/>
              </a:rPr>
              <a:t> </a:t>
            </a:r>
            <a:r>
              <a:rPr dirty="0" sz="1000" spc="80">
                <a:solidFill>
                  <a:srgbClr val="007F00"/>
                </a:solidFill>
                <a:latin typeface="Georgia"/>
                <a:cs typeface="Georgia"/>
              </a:rPr>
              <a:t>in</a:t>
            </a:r>
            <a:r>
              <a:rPr dirty="0" sz="1000" spc="28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children</a:t>
            </a:r>
            <a:r>
              <a:rPr dirty="0" sz="1000" spc="285"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150495">
              <a:lnSpc>
                <a:spcPts val="1195"/>
              </a:lnSpc>
            </a:pPr>
            <a:r>
              <a:rPr dirty="0" sz="1000" spc="55" i="1">
                <a:solidFill>
                  <a:srgbClr val="3F7F7F"/>
                </a:solidFill>
                <a:latin typeface="Cambria"/>
                <a:cs typeface="Cambria"/>
              </a:rPr>
              <a:t>//</a:t>
            </a:r>
            <a:r>
              <a:rPr dirty="0" sz="1000" spc="37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45" i="1">
                <a:solidFill>
                  <a:srgbClr val="3F7F7F"/>
                </a:solidFill>
                <a:latin typeface="Cambria"/>
                <a:cs typeface="Cambria"/>
              </a:rPr>
              <a:t>Esperar</a:t>
            </a:r>
            <a:r>
              <a:rPr dirty="0" sz="1000" spc="38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que</a:t>
            </a:r>
            <a:r>
              <a:rPr dirty="0" sz="1000" spc="37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3F7F7F"/>
                </a:solidFill>
                <a:latin typeface="Cambria"/>
                <a:cs typeface="Cambria"/>
              </a:rPr>
              <a:t>terminen</a:t>
            </a:r>
            <a:r>
              <a:rPr dirty="0" sz="1000" spc="380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125" i="1">
                <a:solidFill>
                  <a:srgbClr val="3F7F7F"/>
                </a:solidFill>
                <a:latin typeface="Cambria"/>
                <a:cs typeface="Cambria"/>
              </a:rPr>
              <a:t>los</a:t>
            </a:r>
            <a:r>
              <a:rPr dirty="0" sz="1000" spc="375" i="1">
                <a:solidFill>
                  <a:srgbClr val="3F7F7F"/>
                </a:solidFill>
                <a:latin typeface="Cambria"/>
                <a:cs typeface="Cambria"/>
              </a:rPr>
              <a:t> </a:t>
            </a:r>
            <a:r>
              <a:rPr dirty="0" sz="1000" spc="45" i="1">
                <a:solidFill>
                  <a:srgbClr val="3F7F7F"/>
                </a:solidFill>
                <a:latin typeface="Cambria"/>
                <a:cs typeface="Cambria"/>
              </a:rPr>
              <a:t>threads</a:t>
            </a:r>
            <a:endParaRPr sz="1000">
              <a:latin typeface="Cambria"/>
              <a:cs typeface="Cambria"/>
            </a:endParaRPr>
          </a:p>
          <a:p>
            <a:pPr marL="150495">
              <a:lnSpc>
                <a:spcPts val="1195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0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_</a:t>
            </a:r>
            <a:r>
              <a:rPr dirty="0" sz="1000" spc="200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195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105">
                <a:latin typeface="Georgia"/>
                <a:cs typeface="Georgia"/>
              </a:rPr>
              <a:t>child.join();</a:t>
            </a:r>
            <a:endParaRPr sz="1000">
              <a:latin typeface="Georgia"/>
              <a:cs typeface="Georgia"/>
            </a:endParaRPr>
          </a:p>
          <a:p>
            <a:pPr marL="150495">
              <a:lnSpc>
                <a:spcPts val="1195"/>
              </a:lnSpc>
            </a:pPr>
            <a:r>
              <a:rPr dirty="0" sz="1000" spc="45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  <a:p>
            <a:pPr marL="17780">
              <a:lnSpc>
                <a:spcPts val="1200"/>
              </a:lnSpc>
            </a:pPr>
            <a:r>
              <a:rPr dirty="0" sz="1000" spc="45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18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Threads</a:t>
            </a:r>
            <a:r>
              <a:rPr dirty="0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85"/>
              <a:t>Rust</a:t>
            </a:r>
            <a:r>
              <a:rPr dirty="0" spc="5"/>
              <a:t> </a:t>
            </a:r>
            <a:r>
              <a:rPr dirty="0"/>
              <a:t>(IV)</a:t>
            </a:r>
            <a:r>
              <a:rPr dirty="0" spc="20"/>
              <a:t> </a:t>
            </a:r>
            <a:r>
              <a:rPr dirty="0"/>
              <a:t>-</a:t>
            </a:r>
            <a:r>
              <a:rPr dirty="0" spc="25"/>
              <a:t> </a:t>
            </a:r>
            <a:r>
              <a:rPr dirty="0" spc="-70"/>
              <a:t>Otras</a:t>
            </a:r>
            <a:r>
              <a:rPr dirty="0" spc="25"/>
              <a:t> </a:t>
            </a:r>
            <a:r>
              <a:rPr dirty="0" spc="-100"/>
              <a:t>funciones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1057629"/>
            <a:ext cx="3800475" cy="1267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85">
                <a:latin typeface="Cambria"/>
                <a:cs typeface="Cambria"/>
              </a:rPr>
              <a:t>thread::sleep();</a:t>
            </a:r>
            <a:endParaRPr sz="1100">
              <a:latin typeface="Cambria"/>
              <a:cs typeface="Cambria"/>
            </a:endParaRPr>
          </a:p>
          <a:p>
            <a:pPr marL="214629" marR="30480">
              <a:lnSpc>
                <a:spcPct val="102600"/>
              </a:lnSpc>
            </a:pPr>
            <a:r>
              <a:rPr dirty="0" sz="1100" spc="-100">
                <a:latin typeface="Arial MT"/>
                <a:cs typeface="Arial MT"/>
              </a:rPr>
              <a:t>Suspende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durante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tiempo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dado.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El tiempo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especifica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funciones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std::time::Duration,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por </a:t>
            </a:r>
            <a:r>
              <a:rPr dirty="0" sz="1100" spc="-10">
                <a:latin typeface="Arial MT"/>
                <a:cs typeface="Arial MT"/>
              </a:rPr>
              <a:t>ejemplo:</a:t>
            </a:r>
            <a:endParaRPr sz="1100">
              <a:latin typeface="Arial MT"/>
              <a:cs typeface="Arial MT"/>
            </a:endParaRPr>
          </a:p>
          <a:p>
            <a:pPr marL="746125">
              <a:lnSpc>
                <a:spcPct val="100000"/>
              </a:lnSpc>
              <a:spcBef>
                <a:spcPts val="175"/>
              </a:spcBef>
            </a:pPr>
            <a:r>
              <a:rPr dirty="0" sz="1000" spc="55">
                <a:latin typeface="Georgia"/>
                <a:cs typeface="Georgia"/>
              </a:rPr>
              <a:t>thread::sleep(Duration::from_millis(</a:t>
            </a:r>
            <a:r>
              <a:rPr dirty="0" sz="1000" spc="55">
                <a:solidFill>
                  <a:srgbClr val="666666"/>
                </a:solidFill>
                <a:latin typeface="Georgia"/>
                <a:cs typeface="Georgia"/>
              </a:rPr>
              <a:t>1</a:t>
            </a:r>
            <a:r>
              <a:rPr dirty="0" sz="1000" spc="55">
                <a:latin typeface="Georgia"/>
                <a:cs typeface="Georgia"/>
              </a:rPr>
              <a:t>));</a:t>
            </a:r>
            <a:endParaRPr sz="1000">
              <a:latin typeface="Georgia"/>
              <a:cs typeface="Georgia"/>
            </a:endParaRPr>
          </a:p>
          <a:p>
            <a:pPr marL="215265" indent="-177165">
              <a:lnSpc>
                <a:spcPct val="100000"/>
              </a:lnSpc>
              <a:spcBef>
                <a:spcPts val="35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65">
                <a:latin typeface="Cambria"/>
                <a:cs typeface="Cambria"/>
              </a:rPr>
              <a:t>thread::yield_now();</a:t>
            </a:r>
            <a:endParaRPr sz="1100">
              <a:latin typeface="Cambria"/>
              <a:cs typeface="Cambri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dirty="0" sz="1100" spc="-120">
                <a:latin typeface="Arial MT"/>
                <a:cs typeface="Arial MT"/>
              </a:rPr>
              <a:t>Cede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timeslice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scheduler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19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298" y="712"/>
            <a:ext cx="2624455" cy="58229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8430">
              <a:lnSpc>
                <a:spcPct val="107400"/>
              </a:lnSpc>
              <a:spcBef>
                <a:spcPts val="95"/>
              </a:spcBef>
            </a:pPr>
            <a:r>
              <a:rPr dirty="0" spc="-120"/>
              <a:t>Threads</a:t>
            </a:r>
            <a:r>
              <a:rPr dirty="0" spc="25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85"/>
              <a:t>Rust</a:t>
            </a:r>
            <a:r>
              <a:rPr dirty="0" spc="45"/>
              <a:t> </a:t>
            </a:r>
            <a:r>
              <a:rPr dirty="0"/>
              <a:t>(V)</a:t>
            </a:r>
            <a:r>
              <a:rPr dirty="0" spc="45"/>
              <a:t> </a:t>
            </a:r>
            <a:r>
              <a:rPr dirty="0"/>
              <a:t>-</a:t>
            </a:r>
            <a:r>
              <a:rPr dirty="0" spc="45"/>
              <a:t> </a:t>
            </a:r>
            <a:r>
              <a:rPr dirty="0" spc="-80"/>
              <a:t>Otras </a:t>
            </a:r>
            <a:r>
              <a:rPr dirty="0" spc="-45"/>
              <a:t>características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798436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7357" y="1001851"/>
            <a:ext cx="3772535" cy="17938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9230" marR="50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tener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nombre: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Sirve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identificar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un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ejecuta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65">
                <a:latin typeface="Cambria"/>
                <a:cs typeface="Cambria"/>
              </a:rPr>
              <a:t>panic!</a:t>
            </a:r>
            <a:r>
              <a:rPr dirty="0" sz="1100" spc="65">
                <a:latin typeface="Arial MT"/>
                <a:cs typeface="Arial MT"/>
              </a:rPr>
              <a:t>.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nombre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obtenerse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y </a:t>
            </a:r>
            <a:r>
              <a:rPr dirty="0" sz="1100" spc="-10">
                <a:latin typeface="Arial MT"/>
                <a:cs typeface="Arial MT"/>
              </a:rPr>
              <a:t>usarse.</a:t>
            </a:r>
            <a:endParaRPr sz="11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dirty="0" sz="1100" spc="-145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crea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Thread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60">
                <a:latin typeface="Cambria"/>
                <a:cs typeface="Cambria"/>
              </a:rPr>
              <a:t>thread::Builder</a:t>
            </a:r>
            <a:r>
              <a:rPr dirty="0" sz="1100" spc="6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89230">
              <a:lnSpc>
                <a:spcPts val="1200"/>
              </a:lnSpc>
              <a:spcBef>
                <a:spcPts val="175"/>
              </a:spcBef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5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builder</a:t>
            </a:r>
            <a:r>
              <a:rPr dirty="0" sz="1000" spc="245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5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50">
                <a:latin typeface="Georgia"/>
                <a:cs typeface="Georgia"/>
              </a:rPr>
              <a:t>thread::Builder::new()</a:t>
            </a:r>
            <a:endParaRPr sz="1000">
              <a:latin typeface="Georgia"/>
              <a:cs typeface="Georgia"/>
            </a:endParaRPr>
          </a:p>
          <a:p>
            <a:pPr marL="189230">
              <a:lnSpc>
                <a:spcPts val="1200"/>
              </a:lnSpc>
            </a:pPr>
            <a:r>
              <a:rPr dirty="0" sz="1000" spc="50">
                <a:latin typeface="Georgia"/>
                <a:cs typeface="Georgia"/>
              </a:rPr>
              <a:t>.name(</a:t>
            </a:r>
            <a:r>
              <a:rPr dirty="0" sz="1000" spc="50">
                <a:solidFill>
                  <a:srgbClr val="BA2121"/>
                </a:solidFill>
                <a:latin typeface="Georgia"/>
                <a:cs typeface="Georgia"/>
              </a:rPr>
              <a:t>"mi_hilo"</a:t>
            </a:r>
            <a:r>
              <a:rPr dirty="0" sz="1000" spc="50">
                <a:latin typeface="Georgia"/>
                <a:cs typeface="Georgia"/>
              </a:rPr>
              <a:t>.into());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321945" marR="1050925" indent="-133350">
              <a:lnSpc>
                <a:spcPct val="100000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9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handler</a:t>
            </a:r>
            <a:r>
              <a:rPr dirty="0" sz="1000" spc="290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30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50">
                <a:latin typeface="Georgia"/>
                <a:cs typeface="Georgia"/>
              </a:rPr>
              <a:t>builder.spawn(</a:t>
            </a:r>
            <a:r>
              <a:rPr dirty="0" sz="1000" spc="50">
                <a:solidFill>
                  <a:srgbClr val="666666"/>
                </a:solidFill>
                <a:latin typeface="Georgia"/>
                <a:cs typeface="Georgia"/>
              </a:rPr>
              <a:t>||</a:t>
            </a:r>
            <a:r>
              <a:rPr dirty="0" sz="1000" spc="295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 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assert_eq!</a:t>
            </a:r>
            <a:r>
              <a:rPr dirty="0" sz="1000" spc="50">
                <a:latin typeface="Georgia"/>
                <a:cs typeface="Georgia"/>
              </a:rPr>
              <a:t>(thread::current().name(), </a:t>
            </a:r>
            <a:r>
              <a:rPr dirty="0" sz="1000" spc="35">
                <a:solidFill>
                  <a:srgbClr val="007F00"/>
                </a:solidFill>
                <a:latin typeface="Georgia"/>
                <a:cs typeface="Georgia"/>
              </a:rPr>
              <a:t>Some</a:t>
            </a:r>
            <a:r>
              <a:rPr dirty="0" sz="1000" spc="35">
                <a:latin typeface="Georgia"/>
                <a:cs typeface="Georgia"/>
              </a:rPr>
              <a:t>(</a:t>
            </a:r>
            <a:r>
              <a:rPr dirty="0" sz="1000" spc="35">
                <a:solidFill>
                  <a:srgbClr val="BA2121"/>
                </a:solidFill>
                <a:latin typeface="Georgia"/>
                <a:cs typeface="Georgia"/>
              </a:rPr>
              <a:t>"hilo"</a:t>
            </a:r>
            <a:r>
              <a:rPr dirty="0" sz="1000" spc="35">
                <a:latin typeface="Georgia"/>
                <a:cs typeface="Georgia"/>
              </a:rPr>
              <a:t>))</a:t>
            </a:r>
            <a:endParaRPr sz="1000">
              <a:latin typeface="Georgia"/>
              <a:cs typeface="Georgia"/>
            </a:endParaRPr>
          </a:p>
          <a:p>
            <a:pPr marL="189230">
              <a:lnSpc>
                <a:spcPts val="1185"/>
              </a:lnSpc>
            </a:pPr>
            <a:r>
              <a:rPr dirty="0" sz="1000" spc="40">
                <a:latin typeface="Georgia"/>
                <a:cs typeface="Georgia"/>
              </a:rPr>
              <a:t>}).unwrap();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20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298" y="712"/>
            <a:ext cx="2680970" cy="58229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8430">
              <a:lnSpc>
                <a:spcPct val="107400"/>
              </a:lnSpc>
              <a:spcBef>
                <a:spcPts val="95"/>
              </a:spcBef>
            </a:pPr>
            <a:r>
              <a:rPr dirty="0" spc="-120"/>
              <a:t>Threads</a:t>
            </a:r>
            <a:r>
              <a:rPr dirty="0" spc="5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85"/>
              <a:t>Rust</a:t>
            </a:r>
            <a:r>
              <a:rPr dirty="0" spc="40"/>
              <a:t> </a:t>
            </a:r>
            <a:r>
              <a:rPr dirty="0"/>
              <a:t>(VI)</a:t>
            </a:r>
            <a:r>
              <a:rPr dirty="0" spc="35"/>
              <a:t> </a:t>
            </a:r>
            <a:r>
              <a:rPr dirty="0"/>
              <a:t>-</a:t>
            </a:r>
            <a:r>
              <a:rPr dirty="0" spc="35"/>
              <a:t> </a:t>
            </a:r>
            <a:r>
              <a:rPr dirty="0" spc="-75"/>
              <a:t>Otras </a:t>
            </a:r>
            <a:r>
              <a:rPr dirty="0" spc="-45"/>
              <a:t>características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798436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7357" y="1572144"/>
            <a:ext cx="364109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89230" marR="50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189230" algn="l"/>
              </a:tabLst>
            </a:pPr>
            <a:r>
              <a:rPr dirty="0" sz="1100" spc="-55">
                <a:latin typeface="Arial MT"/>
                <a:cs typeface="Arial MT"/>
              </a:rPr>
              <a:t>También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configurar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tamaño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stack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thread </a:t>
            </a:r>
            <a:r>
              <a:rPr dirty="0" sz="1100" spc="70">
                <a:latin typeface="Arial MT"/>
                <a:cs typeface="Arial MT"/>
              </a:rPr>
              <a:t>(</a:t>
            </a:r>
            <a:r>
              <a:rPr dirty="0" sz="1100" spc="70">
                <a:latin typeface="Cambria"/>
                <a:cs typeface="Cambria"/>
              </a:rPr>
              <a:t>stack_size()</a:t>
            </a:r>
            <a:r>
              <a:rPr dirty="0" sz="1100" spc="70">
                <a:latin typeface="Arial MT"/>
                <a:cs typeface="Arial MT"/>
              </a:rPr>
              <a:t>).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21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2857500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65"/>
              <a:t>Introducción:</a:t>
            </a:r>
            <a:r>
              <a:rPr dirty="0" spc="50"/>
              <a:t> </a:t>
            </a:r>
            <a:r>
              <a:rPr dirty="0" spc="-40"/>
              <a:t>Traits</a:t>
            </a:r>
            <a:r>
              <a:rPr dirty="0" spc="-20"/>
              <a:t> </a:t>
            </a:r>
            <a:r>
              <a:rPr dirty="0" spc="-190"/>
              <a:t>Send</a:t>
            </a:r>
            <a:r>
              <a:rPr dirty="0" spc="6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10"/>
              <a:t>Sync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1033702"/>
            <a:ext cx="3721100" cy="13004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trait </a:t>
            </a:r>
            <a:r>
              <a:rPr dirty="0" sz="1100" spc="-40" i="1">
                <a:latin typeface="Arial"/>
                <a:cs typeface="Arial"/>
              </a:rPr>
              <a:t>marker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 spc="-55" b="1">
                <a:latin typeface="Arial"/>
                <a:cs typeface="Arial"/>
              </a:rPr>
              <a:t>Send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30">
                <a:latin typeface="Arial MT"/>
                <a:cs typeface="Arial MT"/>
              </a:rPr>
              <a:t>indica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ownership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>
                <a:latin typeface="Arial MT"/>
                <a:cs typeface="Arial MT"/>
              </a:rPr>
              <a:t> tipo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lo </a:t>
            </a:r>
            <a:r>
              <a:rPr dirty="0" sz="1100" spc="-45">
                <a:latin typeface="Arial MT"/>
                <a:cs typeface="Arial MT"/>
              </a:rPr>
              <a:t>implementa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transferido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threads.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75">
                <a:latin typeface="Arial MT"/>
                <a:cs typeface="Arial MT"/>
              </a:rPr>
              <a:t>Casi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todos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tipos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Rust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 b="1">
                <a:latin typeface="Arial"/>
                <a:cs typeface="Arial"/>
              </a:rPr>
              <a:t>Send</a:t>
            </a:r>
            <a:r>
              <a:rPr dirty="0" sz="1100" spc="-30">
                <a:latin typeface="Arial MT"/>
                <a:cs typeface="Arial MT"/>
              </a:rPr>
              <a:t>.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Hay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excepciones: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ej</a:t>
            </a:r>
            <a:endParaRPr sz="1100">
              <a:latin typeface="Arial MT"/>
              <a:cs typeface="Arial MT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Cambria"/>
                <a:cs typeface="Cambria"/>
              </a:rPr>
              <a:t>Rc&lt;T&gt;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214629" marR="8763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65">
                <a:latin typeface="Arial MT"/>
                <a:cs typeface="Arial MT"/>
              </a:rPr>
              <a:t>Los</a:t>
            </a:r>
            <a:r>
              <a:rPr dirty="0" sz="1100" spc="-10">
                <a:latin typeface="Arial MT"/>
                <a:cs typeface="Arial MT"/>
              </a:rPr>
              <a:t> tipos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compuesto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están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formados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tipos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0" b="1">
                <a:latin typeface="Arial"/>
                <a:cs typeface="Arial"/>
              </a:rPr>
              <a:t>Send </a:t>
            </a:r>
            <a:r>
              <a:rPr dirty="0" sz="1100" spc="-50">
                <a:latin typeface="Arial MT"/>
                <a:cs typeface="Arial MT"/>
              </a:rPr>
              <a:t>automáticamente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 b="1">
                <a:latin typeface="Arial"/>
                <a:cs typeface="Arial"/>
              </a:rPr>
              <a:t>Send</a:t>
            </a:r>
            <a:r>
              <a:rPr dirty="0" sz="1100" spc="-30">
                <a:latin typeface="Arial MT"/>
                <a:cs typeface="Arial MT"/>
              </a:rPr>
              <a:t>.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Casi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todos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 spc="-10">
                <a:latin typeface="Arial MT"/>
                <a:cs typeface="Arial MT"/>
              </a:rPr>
              <a:t> tipos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primitivos </a:t>
            </a:r>
            <a:r>
              <a:rPr dirty="0" sz="1100" spc="-75">
                <a:latin typeface="Arial MT"/>
                <a:cs typeface="Arial MT"/>
              </a:rPr>
              <a:t>son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 b="1">
                <a:latin typeface="Arial"/>
                <a:cs typeface="Arial"/>
              </a:rPr>
              <a:t>Send</a:t>
            </a:r>
            <a:r>
              <a:rPr dirty="0" sz="1100" spc="-40">
                <a:latin typeface="Arial MT"/>
                <a:cs typeface="Arial MT"/>
              </a:rPr>
              <a:t>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excepto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 i="1">
                <a:latin typeface="Arial"/>
                <a:cs typeface="Arial"/>
              </a:rPr>
              <a:t>raw</a:t>
            </a:r>
            <a:r>
              <a:rPr dirty="0" sz="1100" spc="-2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pointers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22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2857500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65"/>
              <a:t>Introducción:</a:t>
            </a:r>
            <a:r>
              <a:rPr dirty="0" spc="50"/>
              <a:t> </a:t>
            </a:r>
            <a:r>
              <a:rPr dirty="0" spc="-40"/>
              <a:t>Traits</a:t>
            </a:r>
            <a:r>
              <a:rPr dirty="0" spc="-20"/>
              <a:t> </a:t>
            </a:r>
            <a:r>
              <a:rPr dirty="0" spc="-190"/>
              <a:t>Send</a:t>
            </a:r>
            <a:r>
              <a:rPr dirty="0" spc="65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10"/>
              <a:t>Sync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94005" marR="26670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94640" algn="l"/>
              </a:tabLst>
            </a:pPr>
            <a:r>
              <a:rPr dirty="0" sz="1100"/>
              <a:t>El</a:t>
            </a:r>
            <a:r>
              <a:rPr dirty="0" sz="1100" spc="-40"/>
              <a:t> </a:t>
            </a:r>
            <a:r>
              <a:rPr dirty="0" sz="1100" i="1">
                <a:latin typeface="Arial"/>
                <a:cs typeface="Arial"/>
              </a:rPr>
              <a:t>trait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 spc="-40" i="1">
                <a:latin typeface="Arial"/>
                <a:cs typeface="Arial"/>
              </a:rPr>
              <a:t>marker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spc="-65" b="1">
                <a:latin typeface="Arial"/>
                <a:cs typeface="Arial"/>
              </a:rPr>
              <a:t>Sync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0"/>
              <a:t>indica</a:t>
            </a:r>
            <a:r>
              <a:rPr dirty="0" sz="1100" spc="10"/>
              <a:t> </a:t>
            </a:r>
            <a:r>
              <a:rPr dirty="0" sz="1100" spc="-70"/>
              <a:t>que</a:t>
            </a:r>
            <a:r>
              <a:rPr dirty="0" sz="1100" spc="5"/>
              <a:t> </a:t>
            </a:r>
            <a:r>
              <a:rPr dirty="0" sz="1100" spc="-140"/>
              <a:t>es</a:t>
            </a:r>
            <a:r>
              <a:rPr dirty="0" sz="1100" spc="55"/>
              <a:t> </a:t>
            </a:r>
            <a:r>
              <a:rPr dirty="0" sz="1100" spc="-80"/>
              <a:t>seguro</a:t>
            </a:r>
            <a:r>
              <a:rPr dirty="0" sz="1100" spc="10"/>
              <a:t> </a:t>
            </a:r>
            <a:r>
              <a:rPr dirty="0" sz="1100" spc="-55"/>
              <a:t>para</a:t>
            </a:r>
            <a:r>
              <a:rPr dirty="0" sz="1100" spc="5"/>
              <a:t> </a:t>
            </a:r>
            <a:r>
              <a:rPr dirty="0" sz="1100" spc="-10"/>
              <a:t>el</a:t>
            </a:r>
            <a:r>
              <a:rPr dirty="0" sz="1100" spc="10"/>
              <a:t> </a:t>
            </a:r>
            <a:r>
              <a:rPr dirty="0" sz="1100"/>
              <a:t>tipo</a:t>
            </a:r>
            <a:r>
              <a:rPr dirty="0" sz="1100" spc="5"/>
              <a:t> </a:t>
            </a:r>
            <a:r>
              <a:rPr dirty="0" sz="1100" spc="-25"/>
              <a:t>que </a:t>
            </a:r>
            <a:r>
              <a:rPr dirty="0" sz="1100" spc="-45"/>
              <a:t>implementa</a:t>
            </a:r>
            <a:r>
              <a:rPr dirty="0" sz="1100" spc="-10"/>
              <a:t> </a:t>
            </a:r>
            <a:r>
              <a:rPr dirty="0" sz="1100" spc="-70"/>
              <a:t>Sync</a:t>
            </a:r>
            <a:r>
              <a:rPr dirty="0" sz="1100" spc="10"/>
              <a:t> </a:t>
            </a:r>
            <a:r>
              <a:rPr dirty="0" sz="1100" spc="-65"/>
              <a:t>ser</a:t>
            </a:r>
            <a:r>
              <a:rPr dirty="0" sz="1100" spc="10"/>
              <a:t> </a:t>
            </a:r>
            <a:r>
              <a:rPr dirty="0" sz="1100" spc="-65"/>
              <a:t>referenciado</a:t>
            </a:r>
            <a:r>
              <a:rPr dirty="0" sz="1100" spc="10"/>
              <a:t> </a:t>
            </a:r>
            <a:r>
              <a:rPr dirty="0" sz="1100" spc="-105"/>
              <a:t>desde</a:t>
            </a:r>
            <a:r>
              <a:rPr dirty="0" sz="1100" spc="30"/>
              <a:t> </a:t>
            </a:r>
            <a:r>
              <a:rPr dirty="0" sz="1100" spc="-35"/>
              <a:t>múltiples</a:t>
            </a:r>
            <a:r>
              <a:rPr dirty="0" sz="1100" spc="10"/>
              <a:t> </a:t>
            </a:r>
            <a:r>
              <a:rPr dirty="0" sz="1100" spc="-10"/>
              <a:t>threads.</a:t>
            </a:r>
            <a:endParaRPr sz="1100">
              <a:latin typeface="Arial"/>
              <a:cs typeface="Arial"/>
            </a:endParaRPr>
          </a:p>
          <a:p>
            <a:pPr marL="29464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95275" algn="l"/>
              </a:tabLst>
            </a:pPr>
            <a:r>
              <a:rPr dirty="0" sz="1100" spc="-35"/>
              <a:t>Esto</a:t>
            </a:r>
            <a:r>
              <a:rPr dirty="0" sz="1100" spc="-40"/>
              <a:t> </a:t>
            </a:r>
            <a:r>
              <a:rPr dirty="0" sz="1100" spc="-45"/>
              <a:t>es:</a:t>
            </a:r>
            <a:r>
              <a:rPr dirty="0" sz="1100" spc="55"/>
              <a:t> </a:t>
            </a:r>
            <a:r>
              <a:rPr dirty="0" sz="1100" spc="60"/>
              <a:t>T</a:t>
            </a:r>
            <a:r>
              <a:rPr dirty="0" sz="1100" spc="5"/>
              <a:t> </a:t>
            </a:r>
            <a:r>
              <a:rPr dirty="0" sz="1100" spc="-145"/>
              <a:t>es</a:t>
            </a:r>
            <a:r>
              <a:rPr dirty="0" sz="1100" spc="50"/>
              <a:t> </a:t>
            </a:r>
            <a:r>
              <a:rPr dirty="0" sz="1100" spc="-65" b="1">
                <a:latin typeface="Arial"/>
                <a:cs typeface="Arial"/>
              </a:rPr>
              <a:t>Sync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/>
              <a:t>si</a:t>
            </a:r>
            <a:r>
              <a:rPr dirty="0" sz="1100" spc="10"/>
              <a:t> </a:t>
            </a:r>
            <a:r>
              <a:rPr dirty="0" sz="1100" spc="114" b="1">
                <a:latin typeface="Arial"/>
                <a:cs typeface="Arial"/>
              </a:rPr>
              <a:t>&amp;T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/>
              <a:t>(una</a:t>
            </a:r>
            <a:r>
              <a:rPr dirty="0" sz="1100" spc="5"/>
              <a:t> </a:t>
            </a:r>
            <a:r>
              <a:rPr dirty="0" sz="1100" spc="-55"/>
              <a:t>referencia</a:t>
            </a:r>
            <a:r>
              <a:rPr dirty="0" sz="1100" spc="5"/>
              <a:t> </a:t>
            </a:r>
            <a:r>
              <a:rPr dirty="0" sz="1100"/>
              <a:t>a</a:t>
            </a:r>
            <a:r>
              <a:rPr dirty="0" sz="1100" spc="10"/>
              <a:t> </a:t>
            </a:r>
            <a:r>
              <a:rPr dirty="0" sz="1100" spc="55"/>
              <a:t>T)</a:t>
            </a:r>
            <a:r>
              <a:rPr dirty="0" sz="1100" spc="5"/>
              <a:t> </a:t>
            </a:r>
            <a:r>
              <a:rPr dirty="0" sz="1100" spc="-145"/>
              <a:t>es</a:t>
            </a:r>
            <a:r>
              <a:rPr dirty="0" sz="1100" spc="50"/>
              <a:t> </a:t>
            </a:r>
            <a:r>
              <a:rPr dirty="0" sz="1100" spc="-10" b="1">
                <a:latin typeface="Arial"/>
                <a:cs typeface="Arial"/>
              </a:rPr>
              <a:t>Send</a:t>
            </a:r>
            <a:r>
              <a:rPr dirty="0" sz="1100" spc="-10"/>
              <a:t>.</a:t>
            </a:r>
            <a:endParaRPr sz="1100">
              <a:latin typeface="Arial"/>
              <a:cs typeface="Arial"/>
            </a:endParaRPr>
          </a:p>
          <a:p>
            <a:pPr marL="294005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94640" algn="l"/>
              </a:tabLst>
            </a:pPr>
            <a:r>
              <a:rPr dirty="0" sz="1100" spc="-65"/>
              <a:t>Los</a:t>
            </a:r>
            <a:r>
              <a:rPr dirty="0" sz="1100" spc="-10"/>
              <a:t> tipos</a:t>
            </a:r>
            <a:r>
              <a:rPr dirty="0" sz="1100" spc="-20"/>
              <a:t> </a:t>
            </a:r>
            <a:r>
              <a:rPr dirty="0" sz="1100" spc="-30"/>
              <a:t>primitivos</a:t>
            </a:r>
            <a:r>
              <a:rPr dirty="0" sz="1100" spc="-5"/>
              <a:t> </a:t>
            </a:r>
            <a:r>
              <a:rPr dirty="0" sz="1100" spc="-85"/>
              <a:t>son</a:t>
            </a:r>
            <a:r>
              <a:rPr dirty="0" sz="1100" spc="10"/>
              <a:t> </a:t>
            </a:r>
            <a:r>
              <a:rPr dirty="0" sz="1100" spc="-65" b="1">
                <a:latin typeface="Arial"/>
                <a:cs typeface="Arial"/>
              </a:rPr>
              <a:t>Sync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/>
              <a:t>y</a:t>
            </a:r>
            <a:r>
              <a:rPr dirty="0" sz="1100" spc="-5"/>
              <a:t> </a:t>
            </a:r>
            <a:r>
              <a:rPr dirty="0" sz="1100" spc="-50"/>
              <a:t>los</a:t>
            </a:r>
            <a:r>
              <a:rPr dirty="0" sz="1100"/>
              <a:t> </a:t>
            </a:r>
            <a:r>
              <a:rPr dirty="0" sz="1100" spc="-10"/>
              <a:t>tipos</a:t>
            </a:r>
            <a:r>
              <a:rPr dirty="0" sz="1100" spc="-5"/>
              <a:t> </a:t>
            </a:r>
            <a:r>
              <a:rPr dirty="0" sz="1100" spc="-65"/>
              <a:t>compuesto</a:t>
            </a:r>
            <a:r>
              <a:rPr dirty="0" sz="1100" spc="-5"/>
              <a:t> </a:t>
            </a:r>
            <a:r>
              <a:rPr dirty="0" sz="1100" spc="-70"/>
              <a:t>que</a:t>
            </a:r>
            <a:r>
              <a:rPr dirty="0" sz="1100" spc="-5"/>
              <a:t> </a:t>
            </a:r>
            <a:r>
              <a:rPr dirty="0" sz="1100" spc="-10"/>
              <a:t>están </a:t>
            </a:r>
            <a:r>
              <a:rPr dirty="0" sz="1100" spc="-55"/>
              <a:t>formados</a:t>
            </a:r>
            <a:r>
              <a:rPr dirty="0" sz="1100" spc="-20"/>
              <a:t> </a:t>
            </a:r>
            <a:r>
              <a:rPr dirty="0" sz="1100" spc="-10"/>
              <a:t>por</a:t>
            </a:r>
            <a:r>
              <a:rPr dirty="0" sz="1100" spc="-5"/>
              <a:t> </a:t>
            </a:r>
            <a:r>
              <a:rPr dirty="0" sz="1100" spc="-10"/>
              <a:t>tipos </a:t>
            </a:r>
            <a:r>
              <a:rPr dirty="0" sz="1100" spc="-65" b="1">
                <a:latin typeface="Arial"/>
                <a:cs typeface="Arial"/>
              </a:rPr>
              <a:t>Sync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50"/>
              <a:t>automáticamente</a:t>
            </a:r>
            <a:r>
              <a:rPr dirty="0" sz="1100" spc="-5"/>
              <a:t> </a:t>
            </a:r>
            <a:r>
              <a:rPr dirty="0" sz="1100" spc="-75"/>
              <a:t>son</a:t>
            </a:r>
            <a:r>
              <a:rPr dirty="0" sz="1100"/>
              <a:t> </a:t>
            </a:r>
            <a:r>
              <a:rPr dirty="0" sz="1100" spc="-10" b="1">
                <a:latin typeface="Arial"/>
                <a:cs typeface="Arial"/>
              </a:rPr>
              <a:t>Sync</a:t>
            </a:r>
            <a:r>
              <a:rPr dirty="0" sz="1100" spc="-10"/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23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55"/>
              <a:t>Pasaje</a:t>
            </a:r>
            <a:r>
              <a:rPr dirty="0" spc="45"/>
              <a:t> </a:t>
            </a:r>
            <a:r>
              <a:rPr dirty="0" spc="-185"/>
              <a:t>de</a:t>
            </a:r>
            <a:r>
              <a:rPr dirty="0" spc="65"/>
              <a:t> </a:t>
            </a:r>
            <a:r>
              <a:rPr dirty="0" spc="-155"/>
              <a:t>mensajes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612659"/>
            <a:ext cx="377317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i="1">
                <a:latin typeface="Arial"/>
                <a:cs typeface="Arial"/>
              </a:rPr>
              <a:t>“Do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not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communicate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by</a:t>
            </a:r>
            <a:r>
              <a:rPr dirty="0" sz="1100" spc="-10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sharing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60" i="1">
                <a:latin typeface="Arial"/>
                <a:cs typeface="Arial"/>
              </a:rPr>
              <a:t>memory;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40" i="1">
                <a:latin typeface="Arial"/>
                <a:cs typeface="Arial"/>
              </a:rPr>
              <a:t>instead,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 spc="-85" i="1">
                <a:latin typeface="Arial"/>
                <a:cs typeface="Arial"/>
              </a:rPr>
              <a:t>share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0" i="1">
                <a:latin typeface="Arial"/>
                <a:cs typeface="Arial"/>
              </a:rPr>
              <a:t>memory </a:t>
            </a:r>
            <a:r>
              <a:rPr dirty="0" sz="1100" spc="-20" i="1">
                <a:latin typeface="Arial"/>
                <a:cs typeface="Arial"/>
              </a:rPr>
              <a:t>by</a:t>
            </a:r>
            <a:r>
              <a:rPr dirty="0" sz="1100" spc="-55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communicating.”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996" y="1030410"/>
            <a:ext cx="3240098" cy="21175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24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14"/>
              <a:t>Canales(1)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875535"/>
            <a:ext cx="3851910" cy="16300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10">
                <a:latin typeface="Arial MT"/>
                <a:cs typeface="Arial MT"/>
              </a:rPr>
              <a:t>Un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canal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tiene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dos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extremos: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emisor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receptor.</a:t>
            </a:r>
            <a:endParaRPr sz="1100">
              <a:latin typeface="Arial MT"/>
              <a:cs typeface="Arial MT"/>
            </a:endParaRPr>
          </a:p>
          <a:p>
            <a:pPr marL="214629" marR="8255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parte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código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invoca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métodos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sobre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transmisor,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con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datos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quiere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enviar.</a:t>
            </a:r>
            <a:endParaRPr sz="1100">
              <a:latin typeface="Arial MT"/>
              <a:cs typeface="Arial MT"/>
            </a:endParaRPr>
          </a:p>
          <a:p>
            <a:pPr marL="214629" marR="1390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>
                <a:latin typeface="Arial MT"/>
                <a:cs typeface="Arial MT"/>
              </a:rPr>
              <a:t>Otra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parte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chequea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extremo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recepción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existencia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mensajes.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25">
                <a:latin typeface="Arial MT"/>
                <a:cs typeface="Arial MT"/>
              </a:rPr>
              <a:t>Múltiples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productores,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consumidor.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40" b="1">
                <a:latin typeface="Arial"/>
                <a:cs typeface="Arial"/>
              </a:rPr>
              <a:t>Transfieren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el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60" b="1">
                <a:latin typeface="Arial"/>
                <a:cs typeface="Arial"/>
              </a:rPr>
              <a:t>ownership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del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elemento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enviado.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60">
                <a:latin typeface="Arial MT"/>
                <a:cs typeface="Arial MT"/>
              </a:rPr>
              <a:t>Para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crear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múltiples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productores,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clona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extremo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envío.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25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60"/>
              <a:t>Canales</a:t>
            </a:r>
            <a:r>
              <a:rPr dirty="0" spc="60"/>
              <a:t> </a:t>
            </a:r>
            <a:r>
              <a:rPr dirty="0" spc="-25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693958"/>
            <a:ext cx="2482850" cy="2151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3411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use</a:t>
            </a:r>
            <a:r>
              <a:rPr dirty="0" sz="1000" spc="32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std::sync::mpsc; </a:t>
            </a: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use</a:t>
            </a:r>
            <a:r>
              <a:rPr dirty="0" sz="1000" spc="32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70">
                <a:latin typeface="Georgia"/>
                <a:cs typeface="Georgia"/>
              </a:rPr>
              <a:t>std::thread;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60">
                <a:solidFill>
                  <a:srgbClr val="007F00"/>
                </a:solidFill>
                <a:latin typeface="Georgia"/>
                <a:cs typeface="Georgia"/>
              </a:rPr>
              <a:t>fn</a:t>
            </a:r>
            <a:r>
              <a:rPr dirty="0" sz="1000" spc="32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main</a:t>
            </a:r>
            <a:r>
              <a:rPr dirty="0" sz="1000">
                <a:latin typeface="Georgia"/>
                <a:cs typeface="Georgia"/>
              </a:rPr>
              <a:t>()</a:t>
            </a:r>
            <a:r>
              <a:rPr dirty="0" sz="1000" spc="320"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145415">
              <a:lnSpc>
                <a:spcPts val="1200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5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140">
                <a:latin typeface="Georgia"/>
                <a:cs typeface="Georgia"/>
              </a:rPr>
              <a:t>(tx,</a:t>
            </a:r>
            <a:r>
              <a:rPr dirty="0" sz="1000" spc="254">
                <a:latin typeface="Georgia"/>
                <a:cs typeface="Georgia"/>
              </a:rPr>
              <a:t> </a:t>
            </a:r>
            <a:r>
              <a:rPr dirty="0" sz="1000" spc="85">
                <a:latin typeface="Georgia"/>
                <a:cs typeface="Georgia"/>
              </a:rPr>
              <a:t>rx)</a:t>
            </a:r>
            <a:r>
              <a:rPr dirty="0" sz="1000" spc="250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54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mpsc::channel();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45415">
              <a:lnSpc>
                <a:spcPts val="1200"/>
              </a:lnSpc>
            </a:pPr>
            <a:r>
              <a:rPr dirty="0" sz="1000">
                <a:latin typeface="Georgia"/>
                <a:cs typeface="Georgia"/>
              </a:rPr>
              <a:t>thread::spawn(</a:t>
            </a: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move</a:t>
            </a:r>
            <a:r>
              <a:rPr dirty="0" sz="1000" spc="34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140">
                <a:solidFill>
                  <a:srgbClr val="666666"/>
                </a:solidFill>
                <a:latin typeface="Georgia"/>
                <a:cs typeface="Georgia"/>
              </a:rPr>
              <a:t>||</a:t>
            </a:r>
            <a:r>
              <a:rPr dirty="0" sz="1000" spc="355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410845" marR="137795" indent="-133350">
              <a:lnSpc>
                <a:spcPts val="1200"/>
              </a:lnSpc>
              <a:spcBef>
                <a:spcPts val="40"/>
              </a:spcBef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4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85">
                <a:latin typeface="Georgia"/>
                <a:cs typeface="Georgia"/>
              </a:rPr>
              <a:t>val</a:t>
            </a:r>
            <a:r>
              <a:rPr dirty="0" sz="1000" spc="240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35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50">
                <a:solidFill>
                  <a:srgbClr val="007F00"/>
                </a:solidFill>
                <a:latin typeface="Georgia"/>
                <a:cs typeface="Georgia"/>
              </a:rPr>
              <a:t>String</a:t>
            </a:r>
            <a:r>
              <a:rPr dirty="0" sz="1000" spc="50">
                <a:latin typeface="Georgia"/>
                <a:cs typeface="Georgia"/>
              </a:rPr>
              <a:t>::from(</a:t>
            </a:r>
            <a:r>
              <a:rPr dirty="0" sz="1000" spc="50">
                <a:solidFill>
                  <a:srgbClr val="BA2121"/>
                </a:solidFill>
                <a:latin typeface="Georgia"/>
                <a:cs typeface="Georgia"/>
              </a:rPr>
              <a:t>"Hola"</a:t>
            </a:r>
            <a:r>
              <a:rPr dirty="0" sz="1000" spc="50">
                <a:latin typeface="Georgia"/>
                <a:cs typeface="Georgia"/>
              </a:rPr>
              <a:t>); tx.send(val).unwrap();</a:t>
            </a:r>
            <a:endParaRPr sz="1000">
              <a:latin typeface="Georgia"/>
              <a:cs typeface="Georgia"/>
            </a:endParaRPr>
          </a:p>
          <a:p>
            <a:pPr marL="145415">
              <a:lnSpc>
                <a:spcPts val="1150"/>
              </a:lnSpc>
            </a:pPr>
            <a:r>
              <a:rPr dirty="0" sz="1000" spc="120">
                <a:latin typeface="Georgia"/>
                <a:cs typeface="Georgia"/>
              </a:rPr>
              <a:t>});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Georgia"/>
              <a:cs typeface="Georgia"/>
            </a:endParaRPr>
          </a:p>
          <a:p>
            <a:pPr marL="145415" marR="5080">
              <a:lnSpc>
                <a:spcPct val="100000"/>
              </a:lnSpc>
              <a:spcBef>
                <a:spcPts val="5"/>
              </a:spcBef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4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received</a:t>
            </a:r>
            <a:r>
              <a:rPr dirty="0" sz="1000" spc="235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4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rx.recv().unwrap(); 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println!</a:t>
            </a:r>
            <a:r>
              <a:rPr dirty="0" sz="1000" spc="70">
                <a:latin typeface="Georgia"/>
                <a:cs typeface="Georgia"/>
              </a:rPr>
              <a:t>(</a:t>
            </a:r>
            <a:r>
              <a:rPr dirty="0" sz="1000" spc="70">
                <a:solidFill>
                  <a:srgbClr val="BA2121"/>
                </a:solidFill>
                <a:latin typeface="Georgia"/>
                <a:cs typeface="Georgia"/>
              </a:rPr>
              <a:t>"Recibido:</a:t>
            </a:r>
            <a:r>
              <a:rPr dirty="0" sz="1000" spc="315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BA2121"/>
                </a:solidFill>
                <a:latin typeface="Georgia"/>
                <a:cs typeface="Georgia"/>
              </a:rPr>
              <a:t>{}"</a:t>
            </a:r>
            <a:r>
              <a:rPr dirty="0" sz="1000" spc="130">
                <a:latin typeface="Georgia"/>
                <a:cs typeface="Georgia"/>
              </a:rPr>
              <a:t>,</a:t>
            </a:r>
            <a:r>
              <a:rPr dirty="0" sz="1000" spc="320">
                <a:latin typeface="Georgia"/>
                <a:cs typeface="Georgia"/>
              </a:rPr>
              <a:t> </a:t>
            </a:r>
            <a:r>
              <a:rPr dirty="0" sz="1000" spc="65">
                <a:latin typeface="Georgia"/>
                <a:cs typeface="Georgia"/>
              </a:rPr>
              <a:t>received);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0"/>
              </a:lnSpc>
            </a:pPr>
            <a:r>
              <a:rPr dirty="0" sz="1000" spc="45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26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60"/>
              <a:t>Canales</a:t>
            </a:r>
            <a:r>
              <a:rPr dirty="0" spc="60"/>
              <a:t> </a:t>
            </a:r>
            <a:r>
              <a:rPr dirty="0" spc="-25"/>
              <a:t>(3)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1090522"/>
            <a:ext cx="3862704" cy="11283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dirty="0" sz="1100" spc="-80">
                <a:latin typeface="Arial MT"/>
                <a:cs typeface="Arial MT"/>
              </a:rPr>
              <a:t>Cuando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utilizamos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canales,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deben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tenerse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cuenta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siguientes </a:t>
            </a:r>
            <a:r>
              <a:rPr dirty="0" sz="1100" spc="-10">
                <a:latin typeface="Arial MT"/>
                <a:cs typeface="Arial MT"/>
              </a:rPr>
              <a:t>aspectos:</a:t>
            </a:r>
            <a:endParaRPr sz="1100">
              <a:latin typeface="Arial MT"/>
              <a:cs typeface="Arial MT"/>
            </a:endParaRPr>
          </a:p>
          <a:p>
            <a:pPr marL="314960" marR="4953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comunicación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distintos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través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canal </a:t>
            </a:r>
            <a:r>
              <a:rPr dirty="0" sz="1100" spc="-140">
                <a:latin typeface="Arial MT"/>
                <a:cs typeface="Arial MT"/>
              </a:rPr>
              <a:t>es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asincrónica.</a:t>
            </a:r>
            <a:endParaRPr sz="1100">
              <a:latin typeface="Arial MT"/>
              <a:cs typeface="Arial MT"/>
            </a:endParaRPr>
          </a:p>
          <a:p>
            <a:pPr marL="314960" marR="2413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dirty="0" sz="1100" spc="-110">
                <a:latin typeface="Arial MT"/>
                <a:cs typeface="Arial MT"/>
              </a:rPr>
              <a:t>Es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posible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utilizar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canales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sincronizar</a:t>
            </a:r>
            <a:r>
              <a:rPr dirty="0" sz="1100">
                <a:latin typeface="Arial MT"/>
                <a:cs typeface="Arial MT"/>
              </a:rPr>
              <a:t> la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ejecución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55">
                <a:latin typeface="Arial MT"/>
                <a:cs typeface="Arial MT"/>
              </a:rPr>
              <a:t>varios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threads.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27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10"/>
              <a:t>Locks</a:t>
            </a:r>
            <a:r>
              <a:rPr dirty="0" spc="-10"/>
              <a:t> </a:t>
            </a:r>
            <a:r>
              <a:rPr dirty="0" spc="-50"/>
              <a:t>(teórico)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790509"/>
            <a:ext cx="3864610" cy="18427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55">
                <a:latin typeface="Arial MT"/>
                <a:cs typeface="Arial MT"/>
              </a:rPr>
              <a:t>Sirven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realizar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exclusión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mutua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procesos</a:t>
            </a:r>
            <a:endParaRPr sz="1100">
              <a:latin typeface="Arial MT"/>
              <a:cs typeface="Arial MT"/>
            </a:endParaRPr>
          </a:p>
          <a:p>
            <a:pPr marL="214629" marR="3048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145">
                <a:latin typeface="Arial MT"/>
                <a:cs typeface="Arial MT"/>
              </a:rPr>
              <a:t>Se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implementan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mediante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variables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de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tipo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 i="1">
                <a:latin typeface="Arial"/>
                <a:cs typeface="Arial"/>
              </a:rPr>
              <a:t>lock</a:t>
            </a:r>
            <a:r>
              <a:rPr dirty="0" sz="1100" spc="-10">
                <a:latin typeface="Arial MT"/>
                <a:cs typeface="Arial MT"/>
              </a:rPr>
              <a:t>,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que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contienen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estado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mismo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spc="-145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utilizan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mediante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los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métodos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lock()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 i="1">
                <a:latin typeface="Arial"/>
                <a:cs typeface="Arial"/>
              </a:rPr>
              <a:t>unlock()</a:t>
            </a:r>
            <a:endParaRPr sz="1100">
              <a:latin typeface="Arial"/>
              <a:cs typeface="Arial"/>
            </a:endParaRPr>
          </a:p>
          <a:p>
            <a:pPr lvl="1" marL="489584" marR="153670" indent="-16573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492125" algn="l"/>
              </a:tabLst>
            </a:pPr>
            <a:r>
              <a:rPr dirty="0" sz="1000" spc="-10">
                <a:latin typeface="Arial MT"/>
                <a:cs typeface="Arial MT"/>
              </a:rPr>
              <a:t>Método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i="1">
                <a:latin typeface="Arial"/>
                <a:cs typeface="Arial"/>
              </a:rPr>
              <a:t>lock()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el </a:t>
            </a:r>
            <a:r>
              <a:rPr dirty="0" sz="1000" spc="-65">
                <a:latin typeface="Arial MT"/>
                <a:cs typeface="Arial MT"/>
              </a:rPr>
              <a:t>proceso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14">
                <a:latin typeface="Arial MT"/>
                <a:cs typeface="Arial MT"/>
              </a:rPr>
              <a:t>se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bloquea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hasta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poder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obtener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el </a:t>
            </a:r>
            <a:r>
              <a:rPr dirty="0" sz="1000" spc="-35">
                <a:latin typeface="Arial MT"/>
                <a:cs typeface="Arial MT"/>
              </a:rPr>
              <a:t>	</a:t>
            </a:r>
            <a:r>
              <a:rPr dirty="0" sz="1000" spc="-20">
                <a:latin typeface="Arial MT"/>
                <a:cs typeface="Arial MT"/>
              </a:rPr>
              <a:t>lock.</a:t>
            </a:r>
            <a:endParaRPr sz="1000">
              <a:latin typeface="Arial MT"/>
              <a:cs typeface="Arial MT"/>
            </a:endParaRPr>
          </a:p>
          <a:p>
            <a:pPr lvl="1" marL="489584" marR="592455" indent="-165735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Font typeface="Lucida Sans Unicode"/>
              <a:buChar char="►"/>
              <a:tabLst>
                <a:tab pos="492125" algn="l"/>
              </a:tabLst>
            </a:pPr>
            <a:r>
              <a:rPr dirty="0" sz="1000" spc="-10">
                <a:latin typeface="Arial MT"/>
                <a:cs typeface="Arial MT"/>
              </a:rPr>
              <a:t>Método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i="1">
                <a:latin typeface="Arial"/>
                <a:cs typeface="Arial"/>
              </a:rPr>
              <a:t>unlock()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proceso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libera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lock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que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tomó </a:t>
            </a:r>
            <a:r>
              <a:rPr dirty="0" sz="1000" spc="-20">
                <a:latin typeface="Arial MT"/>
                <a:cs typeface="Arial MT"/>
              </a:rPr>
              <a:t>	</a:t>
            </a:r>
            <a:r>
              <a:rPr dirty="0" sz="1000" spc="-45">
                <a:latin typeface="Arial MT"/>
                <a:cs typeface="Arial MT"/>
              </a:rPr>
              <a:t>previamente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lock.</a:t>
            </a:r>
            <a:endParaRPr sz="1000">
              <a:latin typeface="Arial MT"/>
              <a:cs typeface="Arial MT"/>
            </a:endParaRPr>
          </a:p>
          <a:p>
            <a:pPr marL="214629" marR="52705" indent="-177165">
              <a:lnSpc>
                <a:spcPct val="102600"/>
              </a:lnSpc>
              <a:spcBef>
                <a:spcPts val="27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60">
                <a:latin typeface="Arial MT"/>
                <a:cs typeface="Arial MT"/>
              </a:rPr>
              <a:t>Para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implementación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necesita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soporte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tanto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hardware </a:t>
            </a:r>
            <a:r>
              <a:rPr dirty="0" sz="1100" spc="-55">
                <a:latin typeface="Arial MT"/>
                <a:cs typeface="Arial MT"/>
              </a:rPr>
              <a:t>como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sistema</a:t>
            </a:r>
            <a:r>
              <a:rPr dirty="0" sz="1100" spc="-10">
                <a:latin typeface="Arial MT"/>
                <a:cs typeface="Arial MT"/>
              </a:rPr>
              <a:t> operativo.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28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185" y="16708"/>
            <a:ext cx="1240790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10"/>
              <a:t>Locks</a:t>
            </a:r>
            <a:r>
              <a:rPr dirty="0" spc="-5"/>
              <a:t> </a:t>
            </a:r>
            <a:r>
              <a:rPr dirty="0" spc="-185"/>
              <a:t>en</a:t>
            </a:r>
            <a:r>
              <a:rPr dirty="0" spc="65"/>
              <a:t> </a:t>
            </a:r>
            <a:r>
              <a:rPr dirty="0" spc="-90"/>
              <a:t>Rust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916481"/>
            <a:ext cx="3769360" cy="15436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latin typeface="Arial MT"/>
                <a:cs typeface="Arial MT"/>
              </a:rPr>
              <a:t>Rust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provee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locks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compartidos</a:t>
            </a:r>
            <a:r>
              <a:rPr dirty="0" sz="1100" spc="-10">
                <a:latin typeface="Arial MT"/>
                <a:cs typeface="Arial MT"/>
              </a:rPr>
              <a:t> (de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lectura)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locks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exclusivos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(de escritura)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módulo: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40">
                <a:latin typeface="Cambria"/>
                <a:cs typeface="Cambria"/>
              </a:rPr>
              <a:t>std::sync::RwLock</a:t>
            </a:r>
            <a:r>
              <a:rPr dirty="0" sz="1100" spc="4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2700" marR="43180">
              <a:lnSpc>
                <a:spcPct val="102600"/>
              </a:lnSpc>
            </a:pP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provee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10">
                <a:latin typeface="Arial MT"/>
                <a:cs typeface="Arial MT"/>
              </a:rPr>
              <a:t> política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específica,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sino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es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dependiente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del </a:t>
            </a:r>
            <a:r>
              <a:rPr dirty="0" sz="1100" spc="-55">
                <a:latin typeface="Arial MT"/>
                <a:cs typeface="Arial MT"/>
              </a:rPr>
              <a:t>sistema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operativo.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45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requiere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135" b="1">
                <a:latin typeface="Arial"/>
                <a:cs typeface="Arial"/>
              </a:rPr>
              <a:t>T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125">
                <a:latin typeface="Arial MT"/>
                <a:cs typeface="Arial MT"/>
              </a:rPr>
              <a:t>sea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-55" b="1">
                <a:latin typeface="Arial"/>
                <a:cs typeface="Arial"/>
              </a:rPr>
              <a:t>Send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ser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compartido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y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65" b="1">
                <a:latin typeface="Arial"/>
                <a:cs typeface="Arial"/>
              </a:rPr>
              <a:t>Sync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permitir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acceso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concurrente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entre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lectores.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use</a:t>
            </a:r>
            <a:r>
              <a:rPr dirty="0" sz="1000" spc="39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std::sync::RwLock;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4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60">
                <a:latin typeface="Georgia"/>
                <a:cs typeface="Georgia"/>
              </a:rPr>
              <a:t>lock</a:t>
            </a:r>
            <a:r>
              <a:rPr dirty="0" sz="1000" spc="245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4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RwLock::new(</a:t>
            </a:r>
            <a:r>
              <a:rPr dirty="0" sz="1000" spc="-10">
                <a:solidFill>
                  <a:srgbClr val="666666"/>
                </a:solidFill>
                <a:latin typeface="Georgia"/>
                <a:cs typeface="Georgia"/>
              </a:rPr>
              <a:t>5</a:t>
            </a:r>
            <a:r>
              <a:rPr dirty="0" sz="1000" spc="-10">
                <a:latin typeface="Georgia"/>
                <a:cs typeface="Georgia"/>
              </a:rPr>
              <a:t>);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29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0"/>
              <a:t>Obtener</a:t>
            </a:r>
            <a:r>
              <a:rPr dirty="0" spc="5"/>
              <a:t> </a:t>
            </a:r>
            <a:r>
              <a:rPr dirty="0" spc="-110"/>
              <a:t>Locks</a:t>
            </a:r>
            <a:r>
              <a:rPr dirty="0" spc="10"/>
              <a:t> </a:t>
            </a:r>
            <a:r>
              <a:rPr dirty="0" spc="-25"/>
              <a:t>(I)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49984"/>
            <a:ext cx="3749675" cy="1740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Arial"/>
                <a:cs typeface="Arial"/>
              </a:rPr>
              <a:t>Obtener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lock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lectura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80">
                <a:latin typeface="Cambria"/>
                <a:cs typeface="Cambria"/>
              </a:rPr>
              <a:t>fn</a:t>
            </a:r>
            <a:r>
              <a:rPr dirty="0" sz="1100" spc="340">
                <a:latin typeface="Cambria"/>
                <a:cs typeface="Cambria"/>
              </a:rPr>
              <a:t> </a:t>
            </a:r>
            <a:r>
              <a:rPr dirty="0" sz="1100" spc="60">
                <a:latin typeface="Cambria"/>
                <a:cs typeface="Cambria"/>
              </a:rPr>
              <a:t>read(&amp;self)</a:t>
            </a:r>
            <a:r>
              <a:rPr dirty="0" sz="1100" spc="3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-</a:t>
            </a:r>
            <a:r>
              <a:rPr dirty="0" sz="1100" spc="90">
                <a:latin typeface="Cambria"/>
                <a:cs typeface="Cambria"/>
              </a:rPr>
              <a:t>&gt;</a:t>
            </a:r>
            <a:r>
              <a:rPr dirty="0" sz="1100" spc="3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LockResult&lt;RwLockReadGuard&lt;T&gt;&gt; </a:t>
            </a:r>
            <a:r>
              <a:rPr dirty="0" sz="1100" spc="-50">
                <a:latin typeface="Arial MT"/>
                <a:cs typeface="Arial MT"/>
              </a:rPr>
              <a:t>Bloquea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hasta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pueda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obtener</a:t>
            </a:r>
            <a:r>
              <a:rPr dirty="0" sz="1100" spc="-10">
                <a:latin typeface="Arial MT"/>
                <a:cs typeface="Arial MT"/>
              </a:rPr>
              <a:t> 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acceso </a:t>
            </a:r>
            <a:r>
              <a:rPr dirty="0" sz="1100" spc="-30">
                <a:latin typeface="Arial MT"/>
                <a:cs typeface="Arial MT"/>
              </a:rPr>
              <a:t>compartido.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Puede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haber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otros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threads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compartido.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0" b="1">
                <a:latin typeface="Arial"/>
                <a:cs typeface="Arial"/>
              </a:rPr>
              <a:t>Obtener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lock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escritura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80">
                <a:latin typeface="Cambria"/>
                <a:cs typeface="Cambria"/>
              </a:rPr>
              <a:t>fn</a:t>
            </a:r>
            <a:r>
              <a:rPr dirty="0" sz="1100" spc="335">
                <a:latin typeface="Cambria"/>
                <a:cs typeface="Cambria"/>
              </a:rPr>
              <a:t> </a:t>
            </a:r>
            <a:r>
              <a:rPr dirty="0" sz="1100" spc="75">
                <a:latin typeface="Cambria"/>
                <a:cs typeface="Cambria"/>
              </a:rPr>
              <a:t>write(&amp;self)</a:t>
            </a:r>
            <a:r>
              <a:rPr dirty="0" sz="1100" spc="3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-</a:t>
            </a:r>
            <a:r>
              <a:rPr dirty="0" sz="1100" spc="90">
                <a:latin typeface="Cambria"/>
                <a:cs typeface="Cambria"/>
              </a:rPr>
              <a:t>&gt;</a:t>
            </a:r>
            <a:r>
              <a:rPr dirty="0" sz="1100" spc="3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LockResult&lt;RwLockWriteGuard&lt;T&gt;&gt; </a:t>
            </a:r>
            <a:r>
              <a:rPr dirty="0" sz="1100" spc="-50">
                <a:latin typeface="Arial MT"/>
                <a:cs typeface="Arial MT"/>
              </a:rPr>
              <a:t>Bloquea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hasta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pueda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obtener</a:t>
            </a:r>
            <a:r>
              <a:rPr dirty="0" sz="1100" spc="-10">
                <a:latin typeface="Arial MT"/>
                <a:cs typeface="Arial MT"/>
              </a:rPr>
              <a:t> 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acceso </a:t>
            </a:r>
            <a:r>
              <a:rPr dirty="0" sz="1100" spc="-10">
                <a:latin typeface="Arial MT"/>
                <a:cs typeface="Arial MT"/>
              </a:rPr>
              <a:t>exclusivo.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5">
                <a:latin typeface="Arial MT"/>
                <a:cs typeface="Arial MT"/>
              </a:rPr>
              <a:t>Retornan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protección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que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libera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RAII.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Arial MT"/>
                <a:cs typeface="Arial MT"/>
              </a:rPr>
              <a:t>Una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vez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obtenido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se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puede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acceder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valor</a:t>
            </a:r>
            <a:r>
              <a:rPr dirty="0" sz="1100" spc="-10">
                <a:latin typeface="Arial MT"/>
                <a:cs typeface="Arial MT"/>
              </a:rPr>
              <a:t> protegido.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30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0"/>
              <a:t>Obtener</a:t>
            </a:r>
            <a:r>
              <a:rPr dirty="0" spc="5"/>
              <a:t> </a:t>
            </a:r>
            <a:r>
              <a:rPr dirty="0" spc="-110"/>
              <a:t>Locks</a:t>
            </a:r>
            <a:r>
              <a:rPr dirty="0" spc="10"/>
              <a:t> </a:t>
            </a:r>
            <a:r>
              <a:rPr dirty="0" spc="-20"/>
              <a:t>(II)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738649"/>
            <a:ext cx="3014345" cy="19367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100" spc="-30" b="1">
                <a:latin typeface="Arial"/>
                <a:cs typeface="Arial"/>
              </a:rPr>
              <a:t>Ejemplo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0" b="1">
                <a:latin typeface="Arial"/>
                <a:cs typeface="Arial"/>
              </a:rPr>
              <a:t> lock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lectura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solidFill>
                  <a:srgbClr val="007F00"/>
                </a:solidFill>
                <a:latin typeface="Georgia"/>
                <a:cs typeface="Georgia"/>
              </a:rPr>
              <a:t>use</a:t>
            </a:r>
            <a:r>
              <a:rPr dirty="0" sz="1000" spc="39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std::sync::RwLock;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dirty="0" sz="1000" spc="60">
                <a:solidFill>
                  <a:srgbClr val="007F00"/>
                </a:solidFill>
                <a:latin typeface="Georgia"/>
                <a:cs typeface="Georgia"/>
              </a:rPr>
              <a:t>fn</a:t>
            </a:r>
            <a:r>
              <a:rPr dirty="0" sz="1000" spc="320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main</a:t>
            </a:r>
            <a:r>
              <a:rPr dirty="0" sz="1000">
                <a:latin typeface="Georgia"/>
                <a:cs typeface="Georgia"/>
              </a:rPr>
              <a:t>()</a:t>
            </a:r>
            <a:r>
              <a:rPr dirty="0" sz="1000" spc="320">
                <a:latin typeface="Georgia"/>
                <a:cs typeface="Georgia"/>
              </a:rPr>
              <a:t> </a:t>
            </a:r>
            <a:r>
              <a:rPr dirty="0" sz="1000" spc="45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  <a:p>
            <a:pPr marL="145415">
              <a:lnSpc>
                <a:spcPts val="1200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4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 spc="60">
                <a:latin typeface="Georgia"/>
                <a:cs typeface="Georgia"/>
              </a:rPr>
              <a:t>lock</a:t>
            </a:r>
            <a:r>
              <a:rPr dirty="0" sz="1000" spc="245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4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RwLock::new(</a:t>
            </a:r>
            <a:r>
              <a:rPr dirty="0" sz="1000" spc="-10">
                <a:solidFill>
                  <a:srgbClr val="666666"/>
                </a:solidFill>
                <a:latin typeface="Georgia"/>
                <a:cs typeface="Georgia"/>
              </a:rPr>
              <a:t>1</a:t>
            </a:r>
            <a:r>
              <a:rPr dirty="0" sz="1000" spc="-10">
                <a:latin typeface="Georgia"/>
                <a:cs typeface="Georgia"/>
              </a:rPr>
              <a:t>);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45415">
              <a:lnSpc>
                <a:spcPct val="100000"/>
              </a:lnSpc>
            </a:pPr>
            <a:r>
              <a:rPr dirty="0" sz="1000" spc="140">
                <a:solidFill>
                  <a:srgbClr val="007F00"/>
                </a:solidFill>
                <a:latin typeface="Georgia"/>
                <a:cs typeface="Georgia"/>
              </a:rPr>
              <a:t>let</a:t>
            </a:r>
            <a:r>
              <a:rPr dirty="0" sz="1000" spc="215">
                <a:solidFill>
                  <a:srgbClr val="007F00"/>
                </a:solidFill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</a:t>
            </a:r>
            <a:r>
              <a:rPr dirty="0" sz="1000" spc="220"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666666"/>
                </a:solidFill>
                <a:latin typeface="Georgia"/>
                <a:cs typeface="Georgia"/>
              </a:rPr>
              <a:t>=</a:t>
            </a:r>
            <a:r>
              <a:rPr dirty="0" sz="1000" spc="210">
                <a:solidFill>
                  <a:srgbClr val="666666"/>
                </a:solidFill>
                <a:latin typeface="Georgia"/>
                <a:cs typeface="Georgia"/>
              </a:rPr>
              <a:t> </a:t>
            </a:r>
            <a:r>
              <a:rPr dirty="0" sz="1000" spc="50">
                <a:latin typeface="Georgia"/>
                <a:cs typeface="Georgia"/>
              </a:rPr>
              <a:t>lock.read().unwrap();</a:t>
            </a:r>
            <a:endParaRPr sz="1000">
              <a:latin typeface="Georgia"/>
              <a:cs typeface="Georgia"/>
            </a:endParaRPr>
          </a:p>
          <a:p>
            <a:pPr marL="145415" marR="5080">
              <a:lnSpc>
                <a:spcPct val="199300"/>
              </a:lnSpc>
            </a:pP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println!</a:t>
            </a:r>
            <a:r>
              <a:rPr dirty="0" sz="1000" spc="85">
                <a:latin typeface="Georgia"/>
                <a:cs typeface="Georgia"/>
              </a:rPr>
              <a:t>(</a:t>
            </a:r>
            <a:r>
              <a:rPr dirty="0" sz="1000" spc="85">
                <a:solidFill>
                  <a:srgbClr val="BA2121"/>
                </a:solidFill>
                <a:latin typeface="Georgia"/>
                <a:cs typeface="Georgia"/>
              </a:rPr>
              <a:t>"El</a:t>
            </a:r>
            <a:r>
              <a:rPr dirty="0" sz="1000" spc="320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65">
                <a:solidFill>
                  <a:srgbClr val="BA2121"/>
                </a:solidFill>
                <a:latin typeface="Georgia"/>
                <a:cs typeface="Georgia"/>
              </a:rPr>
              <a:t>valor</a:t>
            </a:r>
            <a:r>
              <a:rPr dirty="0" sz="1000" spc="325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BA2121"/>
                </a:solidFill>
                <a:latin typeface="Georgia"/>
                <a:cs typeface="Georgia"/>
              </a:rPr>
              <a:t>encontrado</a:t>
            </a:r>
            <a:r>
              <a:rPr dirty="0" sz="1000" spc="320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100">
                <a:solidFill>
                  <a:srgbClr val="BA2121"/>
                </a:solidFill>
                <a:latin typeface="Georgia"/>
                <a:cs typeface="Georgia"/>
              </a:rPr>
              <a:t>es:</a:t>
            </a:r>
            <a:r>
              <a:rPr dirty="0" sz="1000" spc="325">
                <a:solidFill>
                  <a:srgbClr val="BA2121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BA2121"/>
                </a:solidFill>
                <a:latin typeface="Georgia"/>
                <a:cs typeface="Georgia"/>
              </a:rPr>
              <a:t>{}"</a:t>
            </a:r>
            <a:r>
              <a:rPr dirty="0" sz="1000" spc="130">
                <a:latin typeface="Georgia"/>
                <a:cs typeface="Georgia"/>
              </a:rPr>
              <a:t>,</a:t>
            </a:r>
            <a:r>
              <a:rPr dirty="0" sz="1000" spc="315">
                <a:latin typeface="Georgia"/>
                <a:cs typeface="Georgia"/>
              </a:rPr>
              <a:t> </a:t>
            </a:r>
            <a:r>
              <a:rPr dirty="0" sz="1000" spc="60">
                <a:solidFill>
                  <a:srgbClr val="666666"/>
                </a:solidFill>
                <a:latin typeface="Georgia"/>
                <a:cs typeface="Georgia"/>
              </a:rPr>
              <a:t>*</a:t>
            </a:r>
            <a:r>
              <a:rPr dirty="0" sz="1000" spc="60">
                <a:latin typeface="Georgia"/>
                <a:cs typeface="Georgia"/>
              </a:rPr>
              <a:t>n); 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assert!</a:t>
            </a:r>
            <a:r>
              <a:rPr dirty="0" sz="1000" spc="85">
                <a:latin typeface="Georgia"/>
                <a:cs typeface="Georgia"/>
              </a:rPr>
              <a:t>(lock.try_write().is_err());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5"/>
              </a:lnSpc>
            </a:pPr>
            <a:r>
              <a:rPr dirty="0" sz="1000" spc="45">
                <a:latin typeface="Georgia"/>
                <a:cs typeface="Georgia"/>
              </a:rPr>
              <a:t>}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31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10"/>
              <a:t>Locks</a:t>
            </a:r>
            <a:r>
              <a:rPr dirty="0" spc="-10"/>
              <a:t> </a:t>
            </a:r>
            <a:r>
              <a:rPr dirty="0" spc="-160"/>
              <a:t>Envenenados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1060905"/>
            <a:ext cx="3879215" cy="12401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889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 MT"/>
                <a:cs typeface="Arial MT"/>
              </a:rPr>
              <a:t>Un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 </a:t>
            </a:r>
            <a:r>
              <a:rPr dirty="0" sz="1100" spc="-70">
                <a:latin typeface="Arial MT"/>
                <a:cs typeface="Arial MT"/>
              </a:rPr>
              <a:t>queda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estado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95" i="1">
                <a:latin typeface="Arial"/>
                <a:cs typeface="Arial"/>
              </a:rPr>
              <a:t>envenenado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65">
                <a:latin typeface="Arial MT"/>
                <a:cs typeface="Arial MT"/>
              </a:rPr>
              <a:t>cuando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thread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toma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30">
                <a:latin typeface="Arial MT"/>
                <a:cs typeface="Arial MT"/>
              </a:rPr>
              <a:t>forma </a:t>
            </a:r>
            <a:r>
              <a:rPr dirty="0" sz="1100" spc="-60">
                <a:latin typeface="Arial MT"/>
                <a:cs typeface="Arial MT"/>
              </a:rPr>
              <a:t>exclusiva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(write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lock)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mientras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tiene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tomado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lock, </a:t>
            </a:r>
            <a:r>
              <a:rPr dirty="0" sz="1100" spc="-40">
                <a:latin typeface="Arial MT"/>
                <a:cs typeface="Arial MT"/>
              </a:rPr>
              <a:t>ejecuta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60">
                <a:latin typeface="Cambria"/>
                <a:cs typeface="Cambria"/>
              </a:rPr>
              <a:t>panic!</a:t>
            </a:r>
            <a:r>
              <a:rPr dirty="0" sz="1100" spc="6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75">
                <a:latin typeface="Arial MT"/>
                <a:cs typeface="Arial MT"/>
              </a:rPr>
              <a:t>Las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llamadas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posteriores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60">
                <a:latin typeface="Cambria"/>
                <a:cs typeface="Cambria"/>
              </a:rPr>
              <a:t>read()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75">
                <a:latin typeface="Cambria"/>
                <a:cs typeface="Cambria"/>
              </a:rPr>
              <a:t>write()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80">
                <a:latin typeface="Arial MT"/>
                <a:cs typeface="Arial MT"/>
              </a:rPr>
              <a:t>sobre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mismo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lock, </a:t>
            </a:r>
            <a:r>
              <a:rPr dirty="0" sz="1100" spc="-65">
                <a:latin typeface="Arial MT"/>
                <a:cs typeface="Arial MT"/>
              </a:rPr>
              <a:t>devolverán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Error.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2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32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75"/>
              <a:t>Bibliografía</a:t>
            </a:r>
          </a:p>
        </p:txBody>
      </p:sp>
      <p:sp>
        <p:nvSpPr>
          <p:cNvPr id="3" name="object 3"/>
          <p:cNvSpPr/>
          <p:nvPr/>
        </p:nvSpPr>
        <p:spPr>
          <a:xfrm>
            <a:off x="395998" y="520077"/>
            <a:ext cx="3686810" cy="0"/>
          </a:xfrm>
          <a:custGeom>
            <a:avLst/>
            <a:gdLst/>
            <a:ahLst/>
            <a:cxnLst/>
            <a:rect l="l" t="t" r="r" b="b"/>
            <a:pathLst>
              <a:path w="3686810" h="0">
                <a:moveTo>
                  <a:pt x="0" y="0"/>
                </a:moveTo>
                <a:lnTo>
                  <a:pt x="3686416" y="0"/>
                </a:lnTo>
              </a:path>
            </a:pathLst>
          </a:custGeom>
          <a:ln w="12649">
            <a:solidFill>
              <a:srgbClr val="008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57" y="746885"/>
            <a:ext cx="3859529" cy="20142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5265" indent="-177165">
              <a:lnSpc>
                <a:spcPts val="126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Rust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Programming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Language</a:t>
            </a:r>
            <a:r>
              <a:rPr dirty="0" sz="1100" spc="-10">
                <a:latin typeface="Arial MT"/>
                <a:cs typeface="Arial MT"/>
              </a:rPr>
              <a:t>,</a:t>
            </a:r>
            <a:endParaRPr sz="1100">
              <a:latin typeface="Arial MT"/>
              <a:cs typeface="Arial MT"/>
            </a:endParaRPr>
          </a:p>
          <a:p>
            <a:pPr marL="214629">
              <a:lnSpc>
                <a:spcPts val="1260"/>
              </a:lnSpc>
            </a:pPr>
            <a:r>
              <a:rPr dirty="0" sz="1100" spc="-10" i="1">
                <a:latin typeface="Arial"/>
                <a:cs typeface="Arial"/>
                <a:hlinkClick r:id="rId2"/>
              </a:rPr>
              <a:t>https://doc.rust-lang.org/book/</a:t>
            </a:r>
            <a:endParaRPr sz="1100">
              <a:latin typeface="Arial"/>
              <a:cs typeface="Arial"/>
            </a:endParaRPr>
          </a:p>
          <a:p>
            <a:pPr lvl="1" marL="490220" indent="-16573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35">
                <a:latin typeface="Arial MT"/>
                <a:cs typeface="Arial MT"/>
              </a:rPr>
              <a:t>Chapter </a:t>
            </a:r>
            <a:r>
              <a:rPr dirty="0" sz="1000" spc="-10">
                <a:latin typeface="Arial MT"/>
                <a:cs typeface="Arial MT"/>
              </a:rPr>
              <a:t>15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16.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Fearless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Concurrency</a:t>
            </a:r>
            <a:endParaRPr sz="1000">
              <a:latin typeface="Arial MT"/>
              <a:cs typeface="Arial MT"/>
            </a:endParaRPr>
          </a:p>
          <a:p>
            <a:pPr marL="214629" marR="200660" indent="-177165">
              <a:lnSpc>
                <a:spcPts val="12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40" b="1">
                <a:latin typeface="Arial"/>
                <a:cs typeface="Arial"/>
              </a:rPr>
              <a:t>Programming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Rust: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Fast, </a:t>
            </a:r>
            <a:r>
              <a:rPr dirty="0" sz="1100" spc="-25" b="1">
                <a:latin typeface="Arial"/>
                <a:cs typeface="Arial"/>
              </a:rPr>
              <a:t>Safe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60" b="1">
                <a:latin typeface="Arial"/>
                <a:cs typeface="Arial"/>
              </a:rPr>
              <a:t>Systems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Development</a:t>
            </a:r>
            <a:r>
              <a:rPr dirty="0" sz="1100" spc="-20">
                <a:latin typeface="Arial MT"/>
                <a:cs typeface="Arial MT"/>
              </a:rPr>
              <a:t>, </a:t>
            </a:r>
            <a:r>
              <a:rPr dirty="0" sz="1100" spc="-10">
                <a:latin typeface="Arial MT"/>
                <a:cs typeface="Arial MT"/>
              </a:rPr>
              <a:t>1st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Edition,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Jim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Blandy,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Jason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Orendorff.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2017.</a:t>
            </a:r>
            <a:endParaRPr sz="1100">
              <a:latin typeface="Arial MT"/>
              <a:cs typeface="Arial MT"/>
            </a:endParaRPr>
          </a:p>
          <a:p>
            <a:pPr lvl="1" marL="490220" indent="-165735">
              <a:lnSpc>
                <a:spcPct val="100000"/>
              </a:lnSpc>
              <a:spcBef>
                <a:spcPts val="150"/>
              </a:spcBef>
              <a:buClr>
                <a:srgbClr val="3333B2"/>
              </a:buClr>
              <a:buFont typeface="Lucida Sans Unicode"/>
              <a:buChar char="►"/>
              <a:tabLst>
                <a:tab pos="490220" algn="l"/>
              </a:tabLst>
            </a:pPr>
            <a:r>
              <a:rPr dirty="0" sz="1000" spc="-35">
                <a:latin typeface="Arial MT"/>
                <a:cs typeface="Arial MT"/>
              </a:rPr>
              <a:t>Chapter </a:t>
            </a:r>
            <a:r>
              <a:rPr dirty="0" sz="1000" spc="-10">
                <a:latin typeface="Arial MT"/>
                <a:cs typeface="Arial MT"/>
              </a:rPr>
              <a:t>19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Concurrencia</a:t>
            </a:r>
            <a:endParaRPr sz="1000">
              <a:latin typeface="Arial MT"/>
              <a:cs typeface="Arial MT"/>
            </a:endParaRPr>
          </a:p>
          <a:p>
            <a:pPr marL="214629" marR="325120" indent="-177165">
              <a:lnSpc>
                <a:spcPct val="102699"/>
              </a:lnSpc>
              <a:spcBef>
                <a:spcPts val="31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20" b="1">
                <a:latin typeface="Arial"/>
                <a:cs typeface="Arial"/>
              </a:rPr>
              <a:t>Operating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System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Concepts</a:t>
            </a:r>
            <a:r>
              <a:rPr dirty="0" sz="1100" spc="-45">
                <a:latin typeface="Arial MT"/>
                <a:cs typeface="Arial MT"/>
              </a:rPr>
              <a:t>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Ninth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Edition,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Abraham </a:t>
            </a:r>
            <a:r>
              <a:rPr dirty="0" sz="1100" spc="-50">
                <a:latin typeface="Arial MT"/>
                <a:cs typeface="Arial MT"/>
              </a:rPr>
              <a:t>Silberschatz,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Greg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Gagne,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Peter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Baer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Galvin,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Cap.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4.</a:t>
            </a:r>
            <a:endParaRPr sz="1100">
              <a:latin typeface="Arial MT"/>
              <a:cs typeface="Arial MT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Design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Unix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Operating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System</a:t>
            </a:r>
            <a:r>
              <a:rPr dirty="0" sz="1100" spc="-35">
                <a:latin typeface="Arial MT"/>
                <a:cs typeface="Arial MT"/>
              </a:rPr>
              <a:t>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Maurice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Bach</a:t>
            </a:r>
            <a:endParaRPr sz="1100">
              <a:latin typeface="Arial MT"/>
              <a:cs typeface="Arial MT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dirty="0" sz="1100" spc="-10" b="1">
                <a:latin typeface="Arial"/>
                <a:cs typeface="Arial"/>
              </a:rPr>
              <a:t>Modern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Operating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55" b="1">
                <a:latin typeface="Arial"/>
                <a:cs typeface="Arial"/>
              </a:rPr>
              <a:t>Systems</a:t>
            </a:r>
            <a:r>
              <a:rPr dirty="0" sz="1100" spc="-55">
                <a:latin typeface="Arial MT"/>
                <a:cs typeface="Arial MT"/>
              </a:rPr>
              <a:t>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Andrew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S.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Tanenbaum,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Cuarta </a:t>
            </a:r>
            <a:r>
              <a:rPr dirty="0" sz="1100" spc="-25">
                <a:latin typeface="Arial MT"/>
                <a:cs typeface="Arial MT"/>
              </a:rPr>
              <a:t>ed.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629" y="3182077"/>
            <a:ext cx="1090295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</a:rPr>
              <a:t>3.</a:t>
            </a:r>
            <a:r>
              <a:rPr dirty="0" sz="800" spc="-85">
                <a:solidFill>
                  <a:srgbClr val="0087C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Concurrencia</a:t>
            </a:r>
            <a:r>
              <a:rPr dirty="0" sz="800" spc="-25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80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en </a:t>
            </a:r>
            <a:r>
              <a:rPr dirty="0" sz="800" spc="-20">
                <a:solidFill>
                  <a:srgbClr val="0087CC"/>
                </a:solidFill>
                <a:latin typeface="Arial MT"/>
                <a:cs typeface="Arial MT"/>
                <a:hlinkClick r:id="rId3" action="ppaction://hlinksldjump"/>
              </a:rPr>
              <a:t>Rust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Depto.</a:t>
            </a:r>
            <a:r>
              <a:rPr dirty="0" spc="95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 spc="-20"/>
              <a:t>Computación</a:t>
            </a:r>
            <a:r>
              <a:rPr dirty="0" spc="-55"/>
              <a:t> </a:t>
            </a:r>
            <a:r>
              <a:rPr dirty="0" baseline="-41666" sz="900" spc="-30"/>
              <a:t>33</a:t>
            </a:r>
            <a:r>
              <a:rPr dirty="0" baseline="-41666" sz="900" spc="-30"/>
              <a:t>/3</a:t>
            </a:r>
            <a:endParaRPr baseline="-41666" sz="9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Ing.</a:t>
            </a:r>
            <a:r>
              <a:rPr dirty="0" spc="70"/>
              <a:t> </a:t>
            </a:r>
            <a:r>
              <a:rPr dirty="0"/>
              <a:t>Pablo A.</a:t>
            </a:r>
            <a:r>
              <a:rPr dirty="0" spc="-5"/>
              <a:t> </a:t>
            </a:r>
            <a:r>
              <a:rPr dirty="0" spc="-20"/>
              <a:t>Deymonnaz</a:t>
            </a:r>
            <a:r>
              <a:rPr dirty="0"/>
              <a:t> - Uriel </a:t>
            </a:r>
            <a:r>
              <a:rPr dirty="0" spc="-10"/>
              <a:t>Kelman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Ing. Pablo A. Deymonnaz - Uriel Kelman</dc:creator>
  <dc:title>Taller de Programación I - Introducción a Concurrencia en Rust</dc:title>
  <dcterms:created xsi:type="dcterms:W3CDTF">2026-09-08T17:01:43Z</dcterms:created>
  <dcterms:modified xsi:type="dcterms:W3CDTF">2026-09-08T17:01:43Z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2021-09-20T00:00:00Z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2026-09-08T00:00:00Z</vt:filetime>
  </property>
  <property fmtid="{D5CDD505-2E9C-101B-9397-08002B2CF9AE}" pid="6" name="PTEX.Fullbanner">
    <vt:lpwstr>This is pdfTeX, Version 3.141592653-2.6-1.40.22 (TeX Live 2021) kpathsea version 6.3.3</vt:lpwstr>
  </property>
  <property fmtid="{D5CDD505-2E9C-101B-9397-08002B2CF9AE}" pid="7" name="Producer">
    <vt:lpwstr>pdfTeX-1.40.22</vt:lpwstr>
  </property>
</Properties>
</file>